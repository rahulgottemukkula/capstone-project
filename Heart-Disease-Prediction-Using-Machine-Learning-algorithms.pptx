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2"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4630400" cy="8229600"/>
  <p:notesSz cx="8229600" cy="14630400"/>
  <p:embeddedFontLst>
    <p:embeddedFont>
      <p:font typeface="Poppins Light" panose="00000400000000000000" pitchFamily="2" charset="0"/>
      <p:regular r:id="rId25"/>
    </p:embeddedFont>
    <p:embeddedFont>
      <p:font typeface="Roboto Light" panose="02000000000000000000" pitchFamily="2" charset="0"/>
      <p:regular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910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448219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7177883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2068103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0746155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11/25/2024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488110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11/25/2024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59172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3021366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0326455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47535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6486572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7877477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9653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9242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819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0497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089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781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58481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034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0467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66622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7763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66488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7105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37335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01916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652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1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38250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1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2164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1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252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2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961407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2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5365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2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8962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dirty="0"/>
              <a:t>11/25/2024</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312233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7.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2.xml"/><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653897"/>
            <a:ext cx="13042821" cy="1417558"/>
          </a:xfrm>
          <a:prstGeom prst="rect">
            <a:avLst/>
          </a:prstGeom>
          <a:noFill/>
          <a:ln/>
        </p:spPr>
        <p:txBody>
          <a:bodyPr wrap="squar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Heart Disease Prediction Using Machine Learning</a:t>
            </a:r>
            <a:endParaRPr lang="en-US" sz="4450" dirty="0"/>
          </a:p>
        </p:txBody>
      </p:sp>
      <p:sp>
        <p:nvSpPr>
          <p:cNvPr id="3" name="Text 1"/>
          <p:cNvSpPr/>
          <p:nvPr/>
        </p:nvSpPr>
        <p:spPr>
          <a:xfrm>
            <a:off x="793790" y="3525083"/>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 As cardiovascular diseases continue to be a leading cause of mortality worldwide, the integration of advanced computational techniques with medical diagnostics offers unprecedented opportunities for early detection and intervention.</a:t>
            </a:r>
            <a:endParaRPr lang="en-US" sz="1750" dirty="0"/>
          </a:p>
        </p:txBody>
      </p:sp>
      <p:sp>
        <p:nvSpPr>
          <p:cNvPr id="4" name="Text 2"/>
          <p:cNvSpPr/>
          <p:nvPr/>
        </p:nvSpPr>
        <p:spPr>
          <a:xfrm>
            <a:off x="793790" y="4506039"/>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This research leverages state-of-the-art machine learning algorithms to analyze complex patterns in patient data, aiming to predict the likelihood of heart disease with high accuracy. By combining clinical expertise with artificial intelligence.</a:t>
            </a:r>
            <a:endParaRPr lang="en-US" sz="1750" dirty="0"/>
          </a:p>
        </p:txBody>
      </p:sp>
      <p:sp>
        <p:nvSpPr>
          <p:cNvPr id="5" name="Text 3"/>
          <p:cNvSpPr/>
          <p:nvPr/>
        </p:nvSpPr>
        <p:spPr>
          <a:xfrm>
            <a:off x="793790" y="5486995"/>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Throughout this presentation, we'll explore the methodology behind our predictive models, discuss the challenges in data acquisition and preprocessing, and present the promising results that could revolutionize how we approach heart disease diagnosis and prevention. </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98840"/>
            <a:ext cx="11107103"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Introduction to Heart Disease Prediction</a:t>
            </a:r>
            <a:endParaRPr lang="en-US" sz="4450" dirty="0"/>
          </a:p>
        </p:txBody>
      </p:sp>
      <p:sp>
        <p:nvSpPr>
          <p:cNvPr id="3" name="Text 1"/>
          <p:cNvSpPr/>
          <p:nvPr/>
        </p:nvSpPr>
        <p:spPr>
          <a:xfrm>
            <a:off x="793790" y="2451854"/>
            <a:ext cx="6244709" cy="1814513"/>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Heart disease is a leading cause of mortality globally. By leveraging machine learning techniques, we can analyze complex patient data to predict the likelihood of heart disease with high accuracy. This enables timely intervention and improved patient outcomes.</a:t>
            </a:r>
            <a:endParaRPr lang="en-US" sz="1750" dirty="0"/>
          </a:p>
        </p:txBody>
      </p:sp>
      <p:sp>
        <p:nvSpPr>
          <p:cNvPr id="4" name="Text 2"/>
          <p:cNvSpPr/>
          <p:nvPr/>
        </p:nvSpPr>
        <p:spPr>
          <a:xfrm>
            <a:off x="793790" y="4470440"/>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The dataset for this study was obtained from the reputable UCI Machine Learning Repository, providing a robust foundation for our predictive models.</a:t>
            </a:r>
            <a:endParaRPr lang="en-US" sz="1750" dirty="0"/>
          </a:p>
        </p:txBody>
      </p:sp>
      <p:pic>
        <p:nvPicPr>
          <p:cNvPr id="5" name="Image 0" descr="preencoded.png"/>
          <p:cNvPicPr>
            <a:picLocks noChangeAspect="1"/>
          </p:cNvPicPr>
          <p:nvPr/>
        </p:nvPicPr>
        <p:blipFill>
          <a:blip r:embed="rId3"/>
          <a:stretch>
            <a:fillRect/>
          </a:stretch>
        </p:blipFill>
        <p:spPr>
          <a:xfrm>
            <a:off x="7599521" y="2502932"/>
            <a:ext cx="6244709" cy="42726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85292"/>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Project Objectives</a:t>
            </a:r>
            <a:endParaRPr lang="en-US" sz="4450" dirty="0"/>
          </a:p>
        </p:txBody>
      </p:sp>
      <p:sp>
        <p:nvSpPr>
          <p:cNvPr id="3" name="Shape 1"/>
          <p:cNvSpPr/>
          <p:nvPr/>
        </p:nvSpPr>
        <p:spPr>
          <a:xfrm>
            <a:off x="7299960" y="2547699"/>
            <a:ext cx="30480" cy="4296608"/>
          </a:xfrm>
          <a:prstGeom prst="roundRect">
            <a:avLst>
              <a:gd name="adj" fmla="val 312558"/>
            </a:avLst>
          </a:prstGeom>
          <a:solidFill>
            <a:srgbClr val="56565B"/>
          </a:solidFill>
          <a:ln/>
        </p:spPr>
      </p:sp>
      <p:sp>
        <p:nvSpPr>
          <p:cNvPr id="4" name="Shape 2"/>
          <p:cNvSpPr/>
          <p:nvPr/>
        </p:nvSpPr>
        <p:spPr>
          <a:xfrm>
            <a:off x="6296739" y="3042761"/>
            <a:ext cx="793790" cy="30480"/>
          </a:xfrm>
          <a:prstGeom prst="roundRect">
            <a:avLst>
              <a:gd name="adj" fmla="val 312558"/>
            </a:avLst>
          </a:prstGeom>
          <a:solidFill>
            <a:srgbClr val="56565B"/>
          </a:solidFill>
          <a:ln/>
        </p:spPr>
      </p:sp>
      <p:sp>
        <p:nvSpPr>
          <p:cNvPr id="5" name="Shape 3"/>
          <p:cNvSpPr/>
          <p:nvPr/>
        </p:nvSpPr>
        <p:spPr>
          <a:xfrm>
            <a:off x="7060049" y="2802850"/>
            <a:ext cx="510302" cy="510302"/>
          </a:xfrm>
          <a:prstGeom prst="roundRect">
            <a:avLst>
              <a:gd name="adj" fmla="val 18669"/>
            </a:avLst>
          </a:prstGeom>
          <a:solidFill>
            <a:srgbClr val="3D3D42"/>
          </a:solidFill>
          <a:ln w="7620">
            <a:solidFill>
              <a:srgbClr val="56565B"/>
            </a:solidFill>
            <a:prstDash val="solid"/>
          </a:ln>
        </p:spPr>
      </p:sp>
      <p:sp>
        <p:nvSpPr>
          <p:cNvPr id="6" name="Text 4"/>
          <p:cNvSpPr/>
          <p:nvPr/>
        </p:nvSpPr>
        <p:spPr>
          <a:xfrm>
            <a:off x="7265432" y="2887861"/>
            <a:ext cx="99417"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1</a:t>
            </a:r>
            <a:endParaRPr lang="en-US" sz="2650" dirty="0"/>
          </a:p>
        </p:txBody>
      </p:sp>
      <p:sp>
        <p:nvSpPr>
          <p:cNvPr id="7" name="Text 5"/>
          <p:cNvSpPr/>
          <p:nvPr/>
        </p:nvSpPr>
        <p:spPr>
          <a:xfrm>
            <a:off x="3232428" y="2774513"/>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E5E0DF"/>
                </a:solidFill>
                <a:latin typeface="Poppins Light" pitchFamily="34" charset="0"/>
                <a:ea typeface="Poppins Light" pitchFamily="34" charset="-122"/>
                <a:cs typeface="Poppins Light" pitchFamily="34" charset="-120"/>
              </a:rPr>
              <a:t>Develop a Model</a:t>
            </a:r>
            <a:endParaRPr lang="en-US" sz="2200" dirty="0"/>
          </a:p>
        </p:txBody>
      </p:sp>
      <p:sp>
        <p:nvSpPr>
          <p:cNvPr id="8" name="Text 6"/>
          <p:cNvSpPr/>
          <p:nvPr/>
        </p:nvSpPr>
        <p:spPr>
          <a:xfrm>
            <a:off x="793790" y="3264932"/>
            <a:ext cx="5273873" cy="1088708"/>
          </a:xfrm>
          <a:prstGeom prst="rect">
            <a:avLst/>
          </a:prstGeom>
          <a:noFill/>
          <a:ln/>
        </p:spPr>
        <p:txBody>
          <a:bodyPr wrap="square" lIns="0" tIns="0" rIns="0" bIns="0" rtlCol="0" anchor="t"/>
          <a:lstStyle/>
          <a:p>
            <a:pPr marL="0" indent="0" algn="r">
              <a:lnSpc>
                <a:spcPts val="2850"/>
              </a:lnSpc>
              <a:buNone/>
            </a:pPr>
            <a:r>
              <a:rPr lang="en-US" sz="1750" dirty="0">
                <a:solidFill>
                  <a:srgbClr val="E5E0DF"/>
                </a:solidFill>
                <a:latin typeface="Roboto Light" pitchFamily="34" charset="0"/>
                <a:ea typeface="Roboto Light" pitchFamily="34" charset="-122"/>
                <a:cs typeface="Roboto Light" pitchFamily="34" charset="-120"/>
              </a:rPr>
              <a:t>Leverage machine learning techniques to create a predictive model that can accurately forecast the likelihood of heart disease in patients.</a:t>
            </a:r>
            <a:endParaRPr lang="en-US" sz="1750" dirty="0"/>
          </a:p>
        </p:txBody>
      </p:sp>
      <p:sp>
        <p:nvSpPr>
          <p:cNvPr id="9" name="Shape 7"/>
          <p:cNvSpPr/>
          <p:nvPr/>
        </p:nvSpPr>
        <p:spPr>
          <a:xfrm>
            <a:off x="7539871" y="4176832"/>
            <a:ext cx="793790" cy="30480"/>
          </a:xfrm>
          <a:prstGeom prst="roundRect">
            <a:avLst>
              <a:gd name="adj" fmla="val 312558"/>
            </a:avLst>
          </a:prstGeom>
          <a:solidFill>
            <a:srgbClr val="56565B"/>
          </a:solidFill>
          <a:ln/>
        </p:spPr>
      </p:sp>
      <p:sp>
        <p:nvSpPr>
          <p:cNvPr id="10" name="Shape 8"/>
          <p:cNvSpPr/>
          <p:nvPr/>
        </p:nvSpPr>
        <p:spPr>
          <a:xfrm>
            <a:off x="7060049" y="3936921"/>
            <a:ext cx="510302" cy="510302"/>
          </a:xfrm>
          <a:prstGeom prst="roundRect">
            <a:avLst>
              <a:gd name="adj" fmla="val 18669"/>
            </a:avLst>
          </a:prstGeom>
          <a:solidFill>
            <a:srgbClr val="3D3D42"/>
          </a:solidFill>
          <a:ln w="7620">
            <a:solidFill>
              <a:srgbClr val="56565B"/>
            </a:solidFill>
            <a:prstDash val="solid"/>
          </a:ln>
        </p:spPr>
      </p:sp>
      <p:sp>
        <p:nvSpPr>
          <p:cNvPr id="11" name="Text 9"/>
          <p:cNvSpPr/>
          <p:nvPr/>
        </p:nvSpPr>
        <p:spPr>
          <a:xfrm>
            <a:off x="7217807" y="4021931"/>
            <a:ext cx="194667"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2</a:t>
            </a:r>
            <a:endParaRPr lang="en-US" sz="2650" dirty="0"/>
          </a:p>
        </p:txBody>
      </p:sp>
      <p:sp>
        <p:nvSpPr>
          <p:cNvPr id="12" name="Text 10"/>
          <p:cNvSpPr/>
          <p:nvPr/>
        </p:nvSpPr>
        <p:spPr>
          <a:xfrm>
            <a:off x="8562737" y="3908584"/>
            <a:ext cx="418516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Compare Model Performance</a:t>
            </a:r>
            <a:endParaRPr lang="en-US" sz="2200" dirty="0"/>
          </a:p>
        </p:txBody>
      </p:sp>
      <p:sp>
        <p:nvSpPr>
          <p:cNvPr id="13" name="Text 11"/>
          <p:cNvSpPr/>
          <p:nvPr/>
        </p:nvSpPr>
        <p:spPr>
          <a:xfrm>
            <a:off x="8562737" y="4399002"/>
            <a:ext cx="5273873"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Evaluate the effectiveness of multiple machine learning algorithms to identify the optimal approach for heart disease prediction.</a:t>
            </a:r>
            <a:endParaRPr lang="en-US" sz="1750" dirty="0"/>
          </a:p>
        </p:txBody>
      </p:sp>
      <p:sp>
        <p:nvSpPr>
          <p:cNvPr id="14" name="Shape 12"/>
          <p:cNvSpPr/>
          <p:nvPr/>
        </p:nvSpPr>
        <p:spPr>
          <a:xfrm>
            <a:off x="6296739" y="5306616"/>
            <a:ext cx="793790" cy="30480"/>
          </a:xfrm>
          <a:prstGeom prst="roundRect">
            <a:avLst>
              <a:gd name="adj" fmla="val 312558"/>
            </a:avLst>
          </a:prstGeom>
          <a:solidFill>
            <a:srgbClr val="56565B"/>
          </a:solidFill>
          <a:ln/>
        </p:spPr>
      </p:sp>
      <p:sp>
        <p:nvSpPr>
          <p:cNvPr id="15" name="Shape 13"/>
          <p:cNvSpPr/>
          <p:nvPr/>
        </p:nvSpPr>
        <p:spPr>
          <a:xfrm>
            <a:off x="7060049" y="5066705"/>
            <a:ext cx="510302" cy="510302"/>
          </a:xfrm>
          <a:prstGeom prst="roundRect">
            <a:avLst>
              <a:gd name="adj" fmla="val 18669"/>
            </a:avLst>
          </a:prstGeom>
          <a:solidFill>
            <a:srgbClr val="3D3D42"/>
          </a:solidFill>
          <a:ln w="7620">
            <a:solidFill>
              <a:srgbClr val="56565B"/>
            </a:solidFill>
            <a:prstDash val="solid"/>
          </a:ln>
        </p:spPr>
      </p:sp>
      <p:sp>
        <p:nvSpPr>
          <p:cNvPr id="16" name="Text 14"/>
          <p:cNvSpPr/>
          <p:nvPr/>
        </p:nvSpPr>
        <p:spPr>
          <a:xfrm>
            <a:off x="7215664" y="5151715"/>
            <a:ext cx="199072"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3</a:t>
            </a:r>
            <a:endParaRPr lang="en-US" sz="2650" dirty="0"/>
          </a:p>
        </p:txBody>
      </p:sp>
      <p:sp>
        <p:nvSpPr>
          <p:cNvPr id="17" name="Text 15"/>
          <p:cNvSpPr/>
          <p:nvPr/>
        </p:nvSpPr>
        <p:spPr>
          <a:xfrm>
            <a:off x="3232428" y="5038368"/>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E5E0DF"/>
                </a:solidFill>
                <a:latin typeface="Poppins Light" pitchFamily="34" charset="0"/>
                <a:ea typeface="Poppins Light" pitchFamily="34" charset="-122"/>
                <a:cs typeface="Poppins Light" pitchFamily="34" charset="-120"/>
              </a:rPr>
              <a:t>Identify Risk Factors</a:t>
            </a:r>
            <a:endParaRPr lang="en-US" sz="2200" dirty="0"/>
          </a:p>
        </p:txBody>
      </p:sp>
      <p:sp>
        <p:nvSpPr>
          <p:cNvPr id="18" name="Text 16"/>
          <p:cNvSpPr/>
          <p:nvPr/>
        </p:nvSpPr>
        <p:spPr>
          <a:xfrm>
            <a:off x="793790" y="5528786"/>
            <a:ext cx="5273873" cy="1088708"/>
          </a:xfrm>
          <a:prstGeom prst="rect">
            <a:avLst/>
          </a:prstGeom>
          <a:noFill/>
          <a:ln/>
        </p:spPr>
        <p:txBody>
          <a:bodyPr wrap="square" lIns="0" tIns="0" rIns="0" bIns="0" rtlCol="0" anchor="t"/>
          <a:lstStyle/>
          <a:p>
            <a:pPr marL="0" indent="0" algn="r">
              <a:lnSpc>
                <a:spcPts val="2850"/>
              </a:lnSpc>
              <a:buNone/>
            </a:pPr>
            <a:r>
              <a:rPr lang="en-US" sz="1750" dirty="0">
                <a:solidFill>
                  <a:srgbClr val="E5E0DF"/>
                </a:solidFill>
                <a:latin typeface="Roboto Light" pitchFamily="34" charset="0"/>
                <a:ea typeface="Roboto Light" pitchFamily="34" charset="-122"/>
                <a:cs typeface="Roboto Light" pitchFamily="34" charset="-120"/>
              </a:rPr>
              <a:t>Analyze the key factors that contribute most to the risk of developing heart disease, providing valuable insights for prevention and early intervention.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317313"/>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Data Overview</a:t>
            </a:r>
            <a:endParaRPr lang="en-US" sz="4450" dirty="0"/>
          </a:p>
        </p:txBody>
      </p:sp>
      <p:sp>
        <p:nvSpPr>
          <p:cNvPr id="3" name="Text 1"/>
          <p:cNvSpPr/>
          <p:nvPr/>
        </p:nvSpPr>
        <p:spPr>
          <a:xfrm>
            <a:off x="793790" y="3479721"/>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The dataset for this heart disease prediction project contains a variety of patient features, including </a:t>
            </a:r>
            <a:r>
              <a:rPr lang="en-US" sz="1750" b="1" dirty="0">
                <a:solidFill>
                  <a:srgbClr val="E5E0DF"/>
                </a:solidFill>
                <a:latin typeface="Roboto Light" pitchFamily="34" charset="0"/>
                <a:ea typeface="Roboto Light" pitchFamily="34" charset="-122"/>
                <a:cs typeface="Roboto Light" pitchFamily="34" charset="-120"/>
              </a:rPr>
              <a:t>age</a:t>
            </a:r>
            <a:r>
              <a:rPr lang="en-US" sz="1750" dirty="0">
                <a:solidFill>
                  <a:srgbClr val="E5E0DF"/>
                </a:solidFill>
                <a:latin typeface="Roboto Light" pitchFamily="34" charset="0"/>
                <a:ea typeface="Roboto Light" pitchFamily="34" charset="-122"/>
                <a:cs typeface="Roboto Light" pitchFamily="34" charset="-120"/>
              </a:rPr>
              <a:t>, </a:t>
            </a:r>
            <a:r>
              <a:rPr lang="en-US" sz="1750" b="1" dirty="0">
                <a:solidFill>
                  <a:srgbClr val="E5E0DF"/>
                </a:solidFill>
                <a:latin typeface="Roboto Light" pitchFamily="34" charset="0"/>
                <a:ea typeface="Roboto Light" pitchFamily="34" charset="-122"/>
                <a:cs typeface="Roboto Light" pitchFamily="34" charset="-120"/>
              </a:rPr>
              <a:t>sex</a:t>
            </a:r>
            <a:r>
              <a:rPr lang="en-US" sz="1750" dirty="0">
                <a:solidFill>
                  <a:srgbClr val="E5E0DF"/>
                </a:solidFill>
                <a:latin typeface="Roboto Light" pitchFamily="34" charset="0"/>
                <a:ea typeface="Roboto Light" pitchFamily="34" charset="-122"/>
                <a:cs typeface="Roboto Light" pitchFamily="34" charset="-120"/>
              </a:rPr>
              <a:t>, </a:t>
            </a:r>
            <a:r>
              <a:rPr lang="en-US" sz="1750" b="1" dirty="0">
                <a:solidFill>
                  <a:srgbClr val="E5E0DF"/>
                </a:solidFill>
                <a:latin typeface="Roboto Light" pitchFamily="34" charset="0"/>
                <a:ea typeface="Roboto Light" pitchFamily="34" charset="-122"/>
                <a:cs typeface="Roboto Light" pitchFamily="34" charset="-120"/>
              </a:rPr>
              <a:t>chest pain type</a:t>
            </a:r>
            <a:r>
              <a:rPr lang="en-US" sz="1750" dirty="0">
                <a:solidFill>
                  <a:srgbClr val="E5E0DF"/>
                </a:solidFill>
                <a:latin typeface="Roboto Light" pitchFamily="34" charset="0"/>
                <a:ea typeface="Roboto Light" pitchFamily="34" charset="-122"/>
                <a:cs typeface="Roboto Light" pitchFamily="34" charset="-120"/>
              </a:rPr>
              <a:t>, </a:t>
            </a:r>
            <a:r>
              <a:rPr lang="en-US" sz="1750" b="1" dirty="0">
                <a:solidFill>
                  <a:srgbClr val="E5E0DF"/>
                </a:solidFill>
                <a:latin typeface="Roboto Light" pitchFamily="34" charset="0"/>
                <a:ea typeface="Roboto Light" pitchFamily="34" charset="-122"/>
                <a:cs typeface="Roboto Light" pitchFamily="34" charset="-120"/>
              </a:rPr>
              <a:t>resting blood pressure</a:t>
            </a:r>
            <a:r>
              <a:rPr lang="en-US" sz="1750" dirty="0">
                <a:solidFill>
                  <a:srgbClr val="E5E0DF"/>
                </a:solidFill>
                <a:latin typeface="Roboto Light" pitchFamily="34" charset="0"/>
                <a:ea typeface="Roboto Light" pitchFamily="34" charset="-122"/>
                <a:cs typeface="Roboto Light" pitchFamily="34" charset="-120"/>
              </a:rPr>
              <a:t>, </a:t>
            </a:r>
            <a:r>
              <a:rPr lang="en-US" sz="1750" b="1" dirty="0">
                <a:solidFill>
                  <a:srgbClr val="E5E0DF"/>
                </a:solidFill>
                <a:latin typeface="Roboto Light" pitchFamily="34" charset="0"/>
                <a:ea typeface="Roboto Light" pitchFamily="34" charset="-122"/>
                <a:cs typeface="Roboto Light" pitchFamily="34" charset="-120"/>
              </a:rPr>
              <a:t>cholesterol level</a:t>
            </a:r>
            <a:r>
              <a:rPr lang="en-US" sz="1750" dirty="0">
                <a:solidFill>
                  <a:srgbClr val="E5E0DF"/>
                </a:solidFill>
                <a:latin typeface="Roboto Light" pitchFamily="34" charset="0"/>
                <a:ea typeface="Roboto Light" pitchFamily="34" charset="-122"/>
                <a:cs typeface="Roboto Light" pitchFamily="34" charset="-120"/>
              </a:rPr>
              <a:t>, and </a:t>
            </a:r>
            <a:r>
              <a:rPr lang="en-US" sz="1750" b="1" dirty="0">
                <a:solidFill>
                  <a:srgbClr val="E5E0DF"/>
                </a:solidFill>
                <a:latin typeface="Roboto Light" pitchFamily="34" charset="0"/>
                <a:ea typeface="Roboto Light" pitchFamily="34" charset="-122"/>
                <a:cs typeface="Roboto Light" pitchFamily="34" charset="-120"/>
              </a:rPr>
              <a:t>fasting blood sugar</a:t>
            </a:r>
            <a:r>
              <a:rPr lang="en-US" sz="1750" dirty="0">
                <a:solidFill>
                  <a:srgbClr val="E5E0DF"/>
                </a:solidFill>
                <a:latin typeface="Roboto Light" pitchFamily="34" charset="0"/>
                <a:ea typeface="Roboto Light" pitchFamily="34" charset="-122"/>
                <a:cs typeface="Roboto Light" pitchFamily="34" charset="-120"/>
              </a:rPr>
              <a:t>. With 1,025 patient entries, this robust dataset will enable us to develop and evaluate highly accurate predictive models.</a:t>
            </a:r>
            <a:endParaRPr lang="en-US" sz="1750" dirty="0"/>
          </a:p>
        </p:txBody>
      </p:sp>
      <p:sp>
        <p:nvSpPr>
          <p:cNvPr id="4" name="Text 2"/>
          <p:cNvSpPr/>
          <p:nvPr/>
        </p:nvSpPr>
        <p:spPr>
          <a:xfrm>
            <a:off x="793790" y="4823579"/>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By closely examining the key features of age, sex, cholesterol, and blood pressure, we can uncover the crucial risk factors that contribute to heart disease. This information will be pivotal in designing effective prevention and intervention strategies tailored to individual patient needs.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13115"/>
            <a:ext cx="7537966"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Data Preprocessing - Part 1</a:t>
            </a:r>
            <a:endParaRPr lang="en-US" sz="4450" dirty="0"/>
          </a:p>
        </p:txBody>
      </p:sp>
      <p:sp>
        <p:nvSpPr>
          <p:cNvPr id="3" name="Shape 1"/>
          <p:cNvSpPr/>
          <p:nvPr/>
        </p:nvSpPr>
        <p:spPr>
          <a:xfrm>
            <a:off x="7299960" y="2275523"/>
            <a:ext cx="30480" cy="4840962"/>
          </a:xfrm>
          <a:prstGeom prst="roundRect">
            <a:avLst>
              <a:gd name="adj" fmla="val 312558"/>
            </a:avLst>
          </a:prstGeom>
          <a:solidFill>
            <a:srgbClr val="56565B"/>
          </a:solidFill>
          <a:ln/>
        </p:spPr>
      </p:sp>
      <p:sp>
        <p:nvSpPr>
          <p:cNvPr id="4" name="Shape 2"/>
          <p:cNvSpPr/>
          <p:nvPr/>
        </p:nvSpPr>
        <p:spPr>
          <a:xfrm>
            <a:off x="6296739" y="2770584"/>
            <a:ext cx="793790" cy="30480"/>
          </a:xfrm>
          <a:prstGeom prst="roundRect">
            <a:avLst>
              <a:gd name="adj" fmla="val 312558"/>
            </a:avLst>
          </a:prstGeom>
          <a:solidFill>
            <a:srgbClr val="56565B"/>
          </a:solidFill>
          <a:ln/>
        </p:spPr>
      </p:sp>
      <p:sp>
        <p:nvSpPr>
          <p:cNvPr id="5" name="Shape 3"/>
          <p:cNvSpPr/>
          <p:nvPr/>
        </p:nvSpPr>
        <p:spPr>
          <a:xfrm>
            <a:off x="7060049" y="2530673"/>
            <a:ext cx="510302" cy="510302"/>
          </a:xfrm>
          <a:prstGeom prst="roundRect">
            <a:avLst>
              <a:gd name="adj" fmla="val 18669"/>
            </a:avLst>
          </a:prstGeom>
          <a:solidFill>
            <a:srgbClr val="3D3D42"/>
          </a:solidFill>
          <a:ln w="7620">
            <a:solidFill>
              <a:srgbClr val="56565B"/>
            </a:solidFill>
            <a:prstDash val="solid"/>
          </a:ln>
        </p:spPr>
      </p:sp>
      <p:sp>
        <p:nvSpPr>
          <p:cNvPr id="6" name="Text 4"/>
          <p:cNvSpPr/>
          <p:nvPr/>
        </p:nvSpPr>
        <p:spPr>
          <a:xfrm>
            <a:off x="7265432" y="2615684"/>
            <a:ext cx="99417"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1</a:t>
            </a:r>
            <a:endParaRPr lang="en-US" sz="2650" dirty="0"/>
          </a:p>
        </p:txBody>
      </p:sp>
      <p:sp>
        <p:nvSpPr>
          <p:cNvPr id="7" name="Text 5"/>
          <p:cNvSpPr/>
          <p:nvPr/>
        </p:nvSpPr>
        <p:spPr>
          <a:xfrm>
            <a:off x="2686407" y="2502337"/>
            <a:ext cx="3381256" cy="354330"/>
          </a:xfrm>
          <a:prstGeom prst="rect">
            <a:avLst/>
          </a:prstGeom>
          <a:noFill/>
          <a:ln/>
        </p:spPr>
        <p:txBody>
          <a:bodyPr wrap="none" lIns="0" tIns="0" rIns="0" bIns="0" rtlCol="0" anchor="t"/>
          <a:lstStyle/>
          <a:p>
            <a:pPr marL="0" indent="0" algn="r">
              <a:lnSpc>
                <a:spcPts val="2750"/>
              </a:lnSpc>
              <a:buNone/>
            </a:pPr>
            <a:r>
              <a:rPr lang="en-US" sz="2200" dirty="0">
                <a:solidFill>
                  <a:srgbClr val="E5E0DF"/>
                </a:solidFill>
                <a:latin typeface="Poppins Light" pitchFamily="34" charset="0"/>
                <a:ea typeface="Poppins Light" pitchFamily="34" charset="-122"/>
                <a:cs typeface="Poppins Light" pitchFamily="34" charset="-120"/>
              </a:rPr>
              <a:t>Handling Missing Values</a:t>
            </a:r>
            <a:endParaRPr lang="en-US" sz="2200" dirty="0"/>
          </a:p>
        </p:txBody>
      </p:sp>
      <p:sp>
        <p:nvSpPr>
          <p:cNvPr id="8" name="Text 6"/>
          <p:cNvSpPr/>
          <p:nvPr/>
        </p:nvSpPr>
        <p:spPr>
          <a:xfrm>
            <a:off x="793790" y="2992755"/>
            <a:ext cx="5273873" cy="1088708"/>
          </a:xfrm>
          <a:prstGeom prst="rect">
            <a:avLst/>
          </a:prstGeom>
          <a:noFill/>
          <a:ln/>
        </p:spPr>
        <p:txBody>
          <a:bodyPr wrap="square" lIns="0" tIns="0" rIns="0" bIns="0" rtlCol="0" anchor="t"/>
          <a:lstStyle/>
          <a:p>
            <a:pPr marL="0" indent="0" algn="r">
              <a:lnSpc>
                <a:spcPts val="2850"/>
              </a:lnSpc>
              <a:buNone/>
            </a:pPr>
            <a:r>
              <a:rPr lang="en-US" sz="1750" dirty="0">
                <a:solidFill>
                  <a:srgbClr val="E5E0DF"/>
                </a:solidFill>
                <a:latin typeface="Roboto Light" pitchFamily="34" charset="0"/>
                <a:ea typeface="Roboto Light" pitchFamily="34" charset="-122"/>
                <a:cs typeface="Roboto Light" pitchFamily="34" charset="-120"/>
              </a:rPr>
              <a:t>The dataset had no missing values, ensuring a complete and reliable foundation for the predictive models.</a:t>
            </a:r>
            <a:endParaRPr lang="en-US" sz="1750" dirty="0"/>
          </a:p>
        </p:txBody>
      </p:sp>
      <p:sp>
        <p:nvSpPr>
          <p:cNvPr id="9" name="Shape 7"/>
          <p:cNvSpPr/>
          <p:nvPr/>
        </p:nvSpPr>
        <p:spPr>
          <a:xfrm>
            <a:off x="7539871" y="3904655"/>
            <a:ext cx="793790" cy="30480"/>
          </a:xfrm>
          <a:prstGeom prst="roundRect">
            <a:avLst>
              <a:gd name="adj" fmla="val 312558"/>
            </a:avLst>
          </a:prstGeom>
          <a:solidFill>
            <a:srgbClr val="56565B"/>
          </a:solidFill>
          <a:ln/>
        </p:spPr>
      </p:sp>
      <p:sp>
        <p:nvSpPr>
          <p:cNvPr id="10" name="Shape 8"/>
          <p:cNvSpPr/>
          <p:nvPr/>
        </p:nvSpPr>
        <p:spPr>
          <a:xfrm>
            <a:off x="7060049" y="3664744"/>
            <a:ext cx="510302" cy="510302"/>
          </a:xfrm>
          <a:prstGeom prst="roundRect">
            <a:avLst>
              <a:gd name="adj" fmla="val 18669"/>
            </a:avLst>
          </a:prstGeom>
          <a:solidFill>
            <a:srgbClr val="3D3D42"/>
          </a:solidFill>
          <a:ln w="7620">
            <a:solidFill>
              <a:srgbClr val="56565B"/>
            </a:solidFill>
            <a:prstDash val="solid"/>
          </a:ln>
        </p:spPr>
      </p:sp>
      <p:sp>
        <p:nvSpPr>
          <p:cNvPr id="11" name="Text 9"/>
          <p:cNvSpPr/>
          <p:nvPr/>
        </p:nvSpPr>
        <p:spPr>
          <a:xfrm>
            <a:off x="7217807" y="3749754"/>
            <a:ext cx="194667"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2</a:t>
            </a:r>
            <a:endParaRPr lang="en-US" sz="2650" dirty="0"/>
          </a:p>
        </p:txBody>
      </p:sp>
      <p:sp>
        <p:nvSpPr>
          <p:cNvPr id="12" name="Text 10"/>
          <p:cNvSpPr/>
          <p:nvPr/>
        </p:nvSpPr>
        <p:spPr>
          <a:xfrm>
            <a:off x="8562737" y="3636407"/>
            <a:ext cx="4430792"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Encoding Categorical Variables</a:t>
            </a:r>
            <a:endParaRPr lang="en-US" sz="2200" dirty="0"/>
          </a:p>
        </p:txBody>
      </p:sp>
      <p:sp>
        <p:nvSpPr>
          <p:cNvPr id="13" name="Text 11"/>
          <p:cNvSpPr/>
          <p:nvPr/>
        </p:nvSpPr>
        <p:spPr>
          <a:xfrm>
            <a:off x="8562737" y="4126825"/>
            <a:ext cx="5273873"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Categorical features, such as 'sex', were transformed into numerical format using label encoding, enabling the machine learning algorithms to properly process the data.</a:t>
            </a:r>
            <a:endParaRPr lang="en-US" sz="1750" dirty="0"/>
          </a:p>
        </p:txBody>
      </p:sp>
      <p:sp>
        <p:nvSpPr>
          <p:cNvPr id="14" name="Shape 12"/>
          <p:cNvSpPr/>
          <p:nvPr/>
        </p:nvSpPr>
        <p:spPr>
          <a:xfrm>
            <a:off x="6296739" y="5215890"/>
            <a:ext cx="793790" cy="30480"/>
          </a:xfrm>
          <a:prstGeom prst="roundRect">
            <a:avLst>
              <a:gd name="adj" fmla="val 312558"/>
            </a:avLst>
          </a:prstGeom>
          <a:solidFill>
            <a:srgbClr val="56565B"/>
          </a:solidFill>
          <a:ln/>
        </p:spPr>
      </p:sp>
      <p:sp>
        <p:nvSpPr>
          <p:cNvPr id="15" name="Shape 13"/>
          <p:cNvSpPr/>
          <p:nvPr/>
        </p:nvSpPr>
        <p:spPr>
          <a:xfrm>
            <a:off x="7060049" y="4975979"/>
            <a:ext cx="510302" cy="510302"/>
          </a:xfrm>
          <a:prstGeom prst="roundRect">
            <a:avLst>
              <a:gd name="adj" fmla="val 18669"/>
            </a:avLst>
          </a:prstGeom>
          <a:solidFill>
            <a:srgbClr val="3D3D42"/>
          </a:solidFill>
          <a:ln w="7620">
            <a:solidFill>
              <a:srgbClr val="56565B"/>
            </a:solidFill>
            <a:prstDash val="solid"/>
          </a:ln>
        </p:spPr>
      </p:sp>
      <p:sp>
        <p:nvSpPr>
          <p:cNvPr id="16" name="Text 14"/>
          <p:cNvSpPr/>
          <p:nvPr/>
        </p:nvSpPr>
        <p:spPr>
          <a:xfrm>
            <a:off x="7215664" y="5060990"/>
            <a:ext cx="199072"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3</a:t>
            </a:r>
            <a:endParaRPr lang="en-US" sz="2650" dirty="0"/>
          </a:p>
        </p:txBody>
      </p:sp>
      <p:sp>
        <p:nvSpPr>
          <p:cNvPr id="17" name="Text 15"/>
          <p:cNvSpPr/>
          <p:nvPr/>
        </p:nvSpPr>
        <p:spPr>
          <a:xfrm>
            <a:off x="3232428" y="494764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E5E0DF"/>
                </a:solidFill>
                <a:latin typeface="Poppins Light" pitchFamily="34" charset="0"/>
                <a:ea typeface="Poppins Light" pitchFamily="34" charset="-122"/>
                <a:cs typeface="Poppins Light" pitchFamily="34" charset="-120"/>
              </a:rPr>
              <a:t>Feature Scaling</a:t>
            </a:r>
            <a:endParaRPr lang="en-US" sz="2200" dirty="0"/>
          </a:p>
        </p:txBody>
      </p:sp>
      <p:sp>
        <p:nvSpPr>
          <p:cNvPr id="18" name="Text 16"/>
          <p:cNvSpPr/>
          <p:nvPr/>
        </p:nvSpPr>
        <p:spPr>
          <a:xfrm>
            <a:off x="793790" y="5438061"/>
            <a:ext cx="5273873" cy="1451610"/>
          </a:xfrm>
          <a:prstGeom prst="rect">
            <a:avLst/>
          </a:prstGeom>
          <a:noFill/>
          <a:ln/>
        </p:spPr>
        <p:txBody>
          <a:bodyPr wrap="square" lIns="0" tIns="0" rIns="0" bIns="0" rtlCol="0" anchor="t"/>
          <a:lstStyle/>
          <a:p>
            <a:pPr marL="0" indent="0" algn="r">
              <a:lnSpc>
                <a:spcPts val="2850"/>
              </a:lnSpc>
              <a:buNone/>
            </a:pPr>
            <a:r>
              <a:rPr lang="en-US" sz="1750" dirty="0">
                <a:solidFill>
                  <a:srgbClr val="E5E0DF"/>
                </a:solidFill>
                <a:latin typeface="Roboto Light" pitchFamily="34" charset="0"/>
                <a:ea typeface="Roboto Light" pitchFamily="34" charset="-122"/>
                <a:cs typeface="Roboto Light" pitchFamily="34" charset="-120"/>
              </a:rPr>
              <a:t>The StandardScaler technique was applied to normalize the feature values, crucial for algorithms sensitive to feature magnitude, like K-Nearest Neighbors (KNN).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9467" y="432435"/>
            <a:ext cx="4842391" cy="446008"/>
          </a:xfrm>
          <a:prstGeom prst="rect">
            <a:avLst/>
          </a:prstGeom>
          <a:noFill/>
          <a:ln/>
        </p:spPr>
        <p:txBody>
          <a:bodyPr wrap="none" lIns="0" tIns="0" rIns="0" bIns="0" rtlCol="0" anchor="t"/>
          <a:lstStyle/>
          <a:p>
            <a:pPr marL="0" indent="0">
              <a:lnSpc>
                <a:spcPts val="3500"/>
              </a:lnSpc>
              <a:buNone/>
            </a:pPr>
            <a:r>
              <a:rPr lang="en-US" sz="2800" dirty="0">
                <a:solidFill>
                  <a:srgbClr val="F2F2F3"/>
                </a:solidFill>
                <a:latin typeface="Poppins Light" pitchFamily="34" charset="0"/>
                <a:ea typeface="Poppins Light" pitchFamily="34" charset="-122"/>
                <a:cs typeface="Poppins Light" pitchFamily="34" charset="-120"/>
              </a:rPr>
              <a:t>Data Preprocessing - Part 2</a:t>
            </a:r>
            <a:endParaRPr lang="en-US" sz="2800" dirty="0"/>
          </a:p>
        </p:txBody>
      </p:sp>
      <p:sp>
        <p:nvSpPr>
          <p:cNvPr id="3" name="Text 1"/>
          <p:cNvSpPr/>
          <p:nvPr/>
        </p:nvSpPr>
        <p:spPr>
          <a:xfrm>
            <a:off x="499467" y="1092518"/>
            <a:ext cx="2854643" cy="356830"/>
          </a:xfrm>
          <a:prstGeom prst="rect">
            <a:avLst/>
          </a:prstGeom>
          <a:noFill/>
          <a:ln/>
        </p:spPr>
        <p:txBody>
          <a:bodyPr wrap="none" lIns="0" tIns="0" rIns="0" bIns="0" rtlCol="0" anchor="t"/>
          <a:lstStyle/>
          <a:p>
            <a:pPr marL="0" indent="0">
              <a:lnSpc>
                <a:spcPts val="2800"/>
              </a:lnSpc>
              <a:buNone/>
            </a:pPr>
            <a:r>
              <a:rPr lang="en-US" sz="2200" dirty="0">
                <a:solidFill>
                  <a:srgbClr val="F2F2F3"/>
                </a:solidFill>
                <a:latin typeface="Poppins Light" pitchFamily="34" charset="0"/>
                <a:ea typeface="Poppins Light" pitchFamily="34" charset="-122"/>
                <a:cs typeface="Poppins Light" pitchFamily="34" charset="-120"/>
              </a:rPr>
              <a:t>Data Visualization</a:t>
            </a:r>
            <a:endParaRPr lang="en-US" sz="2200" dirty="0"/>
          </a:p>
        </p:txBody>
      </p:sp>
      <p:sp>
        <p:nvSpPr>
          <p:cNvPr id="4" name="Text 2"/>
          <p:cNvSpPr/>
          <p:nvPr/>
        </p:nvSpPr>
        <p:spPr>
          <a:xfrm>
            <a:off x="499467" y="1663422"/>
            <a:ext cx="2140982" cy="267533"/>
          </a:xfrm>
          <a:prstGeom prst="rect">
            <a:avLst/>
          </a:prstGeom>
          <a:noFill/>
          <a:ln/>
        </p:spPr>
        <p:txBody>
          <a:bodyPr wrap="none" lIns="0" tIns="0" rIns="0" bIns="0" rtlCol="0" anchor="t"/>
          <a:lstStyle/>
          <a:p>
            <a:pPr marL="0" indent="0">
              <a:lnSpc>
                <a:spcPts val="2100"/>
              </a:lnSpc>
              <a:buNone/>
            </a:pPr>
            <a:r>
              <a:rPr lang="en-US" sz="1650" dirty="0">
                <a:solidFill>
                  <a:srgbClr val="F2F2F3"/>
                </a:solidFill>
                <a:latin typeface="Poppins Light" pitchFamily="34" charset="0"/>
                <a:ea typeface="Poppins Light" pitchFamily="34" charset="-122"/>
                <a:cs typeface="Poppins Light" pitchFamily="34" charset="-120"/>
              </a:rPr>
              <a:t>Histogram</a:t>
            </a:r>
            <a:endParaRPr lang="en-US" sz="1650" dirty="0"/>
          </a:p>
        </p:txBody>
      </p:sp>
      <p:sp>
        <p:nvSpPr>
          <p:cNvPr id="5" name="Text 3"/>
          <p:cNvSpPr/>
          <p:nvPr/>
        </p:nvSpPr>
        <p:spPr>
          <a:xfrm>
            <a:off x="499467" y="2145030"/>
            <a:ext cx="13631466" cy="228362"/>
          </a:xfrm>
          <a:prstGeom prst="rect">
            <a:avLst/>
          </a:prstGeom>
          <a:noFill/>
          <a:ln/>
        </p:spPr>
        <p:txBody>
          <a:bodyPr wrap="none" lIns="0" tIns="0" rIns="0" bIns="0" rtlCol="0" anchor="t"/>
          <a:lstStyle/>
          <a:p>
            <a:pPr marL="0" indent="0">
              <a:lnSpc>
                <a:spcPts val="1750"/>
              </a:lnSpc>
              <a:buNone/>
            </a:pPr>
            <a:r>
              <a:rPr lang="en-US" sz="1100" dirty="0">
                <a:solidFill>
                  <a:srgbClr val="E5E0DF"/>
                </a:solidFill>
                <a:latin typeface="Roboto Light" pitchFamily="34" charset="0"/>
                <a:ea typeface="Roboto Light" pitchFamily="34" charset="-122"/>
                <a:cs typeface="Roboto Light" pitchFamily="34" charset="-120"/>
              </a:rPr>
              <a:t>The histograms show the distributions of age and cholesterol levels in the heart disease dataset. This provides valuable insights into the ranges and patterns of these key risk factors.</a:t>
            </a:r>
            <a:endParaRPr lang="en-US" sz="1100" dirty="0"/>
          </a:p>
        </p:txBody>
      </p:sp>
      <p:pic>
        <p:nvPicPr>
          <p:cNvPr id="6" name="Image 0" descr="preencoded.png"/>
          <p:cNvPicPr>
            <a:picLocks noChangeAspect="1"/>
          </p:cNvPicPr>
          <p:nvPr/>
        </p:nvPicPr>
        <p:blipFill>
          <a:blip r:embed="rId3"/>
          <a:stretch>
            <a:fillRect/>
          </a:stretch>
        </p:blipFill>
        <p:spPr>
          <a:xfrm>
            <a:off x="499467" y="2533888"/>
            <a:ext cx="10615970" cy="52632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46365" y="350639"/>
            <a:ext cx="1913215" cy="239078"/>
          </a:xfrm>
          <a:prstGeom prst="rect">
            <a:avLst/>
          </a:prstGeom>
          <a:noFill/>
          <a:ln/>
        </p:spPr>
        <p:txBody>
          <a:bodyPr wrap="none" lIns="0" tIns="0" rIns="0" bIns="0" rtlCol="0" anchor="t"/>
          <a:lstStyle/>
          <a:p>
            <a:pPr marL="0" indent="0">
              <a:lnSpc>
                <a:spcPts val="1850"/>
              </a:lnSpc>
              <a:buNone/>
            </a:pPr>
            <a:r>
              <a:rPr lang="en-US" sz="1500" dirty="0">
                <a:solidFill>
                  <a:srgbClr val="F2F2F3"/>
                </a:solidFill>
                <a:latin typeface="Poppins Light" pitchFamily="34" charset="0"/>
                <a:ea typeface="Poppins Light" pitchFamily="34" charset="-122"/>
                <a:cs typeface="Poppins Light" pitchFamily="34" charset="-120"/>
              </a:rPr>
              <a:t>Box Plots</a:t>
            </a:r>
            <a:endParaRPr lang="en-US" sz="1500" dirty="0"/>
          </a:p>
        </p:txBody>
      </p:sp>
      <p:sp>
        <p:nvSpPr>
          <p:cNvPr id="3" name="Text 1"/>
          <p:cNvSpPr/>
          <p:nvPr/>
        </p:nvSpPr>
        <p:spPr>
          <a:xfrm>
            <a:off x="446365" y="844748"/>
            <a:ext cx="13737669" cy="203954"/>
          </a:xfrm>
          <a:prstGeom prst="rect">
            <a:avLst/>
          </a:prstGeom>
          <a:noFill/>
          <a:ln/>
        </p:spPr>
        <p:txBody>
          <a:bodyPr wrap="none" lIns="0" tIns="0" rIns="0" bIns="0" rtlCol="0" anchor="t"/>
          <a:lstStyle/>
          <a:p>
            <a:pPr marL="0" indent="0">
              <a:lnSpc>
                <a:spcPts val="1600"/>
              </a:lnSpc>
              <a:buNone/>
            </a:pPr>
            <a:r>
              <a:rPr lang="en-US" sz="1000" dirty="0">
                <a:solidFill>
                  <a:srgbClr val="E5E0DF"/>
                </a:solidFill>
                <a:latin typeface="Roboto Light" pitchFamily="34" charset="0"/>
                <a:ea typeface="Roboto Light" pitchFamily="34" charset="-122"/>
                <a:cs typeface="Roboto Light" pitchFamily="34" charset="-120"/>
              </a:rPr>
              <a:t>The box plots identify any outliers in the cholesterol and blood pressure values, helping us understand the extremes within the dataset and ensure the data is appropriately prepared for modeling.</a:t>
            </a:r>
            <a:endParaRPr lang="en-US" sz="1000" dirty="0"/>
          </a:p>
        </p:txBody>
      </p:sp>
      <p:pic>
        <p:nvPicPr>
          <p:cNvPr id="4" name="Image 0" descr="preencoded.png"/>
          <p:cNvPicPr>
            <a:picLocks noChangeAspect="1"/>
          </p:cNvPicPr>
          <p:nvPr/>
        </p:nvPicPr>
        <p:blipFill>
          <a:blip r:embed="rId3"/>
          <a:stretch>
            <a:fillRect/>
          </a:stretch>
        </p:blipFill>
        <p:spPr>
          <a:xfrm>
            <a:off x="242111" y="1434465"/>
            <a:ext cx="6810137" cy="6605564"/>
          </a:xfrm>
          <a:prstGeom prst="rect">
            <a:avLst/>
          </a:prstGeom>
        </p:spPr>
      </p:pic>
      <p:pic>
        <p:nvPicPr>
          <p:cNvPr id="5" name="Image 1" descr="preencoded.png"/>
          <p:cNvPicPr>
            <a:picLocks noChangeAspect="1"/>
          </p:cNvPicPr>
          <p:nvPr/>
        </p:nvPicPr>
        <p:blipFill>
          <a:blip r:embed="rId4"/>
          <a:stretch>
            <a:fillRect/>
          </a:stretch>
        </p:blipFill>
        <p:spPr>
          <a:xfrm>
            <a:off x="7052248" y="1434465"/>
            <a:ext cx="7336041" cy="66055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96835" y="311825"/>
            <a:ext cx="1785461" cy="212646"/>
          </a:xfrm>
          <a:prstGeom prst="rect">
            <a:avLst/>
          </a:prstGeom>
          <a:noFill/>
          <a:ln/>
        </p:spPr>
        <p:txBody>
          <a:bodyPr wrap="none" lIns="0" tIns="0" rIns="0" bIns="0" rtlCol="0" anchor="t"/>
          <a:lstStyle/>
          <a:p>
            <a:pPr marL="0" indent="0">
              <a:lnSpc>
                <a:spcPts val="1650"/>
              </a:lnSpc>
              <a:buNone/>
            </a:pPr>
            <a:r>
              <a:rPr lang="en-US" sz="1300" dirty="0">
                <a:solidFill>
                  <a:srgbClr val="F2F2F3"/>
                </a:solidFill>
                <a:latin typeface="Poppins Light" pitchFamily="34" charset="0"/>
                <a:ea typeface="Poppins Light" pitchFamily="34" charset="-122"/>
                <a:cs typeface="Poppins Light" pitchFamily="34" charset="-120"/>
              </a:rPr>
              <a:t>Correlation Heatmap</a:t>
            </a:r>
            <a:endParaRPr lang="en-US" sz="1300" dirty="0"/>
          </a:p>
        </p:txBody>
      </p:sp>
      <p:sp>
        <p:nvSpPr>
          <p:cNvPr id="3" name="Text 1"/>
          <p:cNvSpPr/>
          <p:nvPr/>
        </p:nvSpPr>
        <p:spPr>
          <a:xfrm>
            <a:off x="396835" y="751284"/>
            <a:ext cx="13836729" cy="181451"/>
          </a:xfrm>
          <a:prstGeom prst="rect">
            <a:avLst/>
          </a:prstGeom>
          <a:noFill/>
          <a:ln/>
        </p:spPr>
        <p:txBody>
          <a:bodyPr wrap="none" lIns="0" tIns="0" rIns="0" bIns="0" rtlCol="0" anchor="t"/>
          <a:lstStyle/>
          <a:p>
            <a:pPr marL="0" indent="0">
              <a:lnSpc>
                <a:spcPts val="1400"/>
              </a:lnSpc>
              <a:buNone/>
            </a:pPr>
            <a:r>
              <a:rPr lang="en-US" sz="850" dirty="0">
                <a:solidFill>
                  <a:srgbClr val="E5E0DF"/>
                </a:solidFill>
                <a:latin typeface="Roboto Light" pitchFamily="34" charset="0"/>
                <a:ea typeface="Roboto Light" pitchFamily="34" charset="-122"/>
                <a:cs typeface="Roboto Light" pitchFamily="34" charset="-120"/>
              </a:rPr>
              <a:t>The correlation heatmap reveals the relationships between the various features in the heart disease dataset, highlighting the most important predictors to focus on for the predictive models.</a:t>
            </a:r>
            <a:endParaRPr lang="en-US" sz="850" dirty="0"/>
          </a:p>
        </p:txBody>
      </p:sp>
      <p:pic>
        <p:nvPicPr>
          <p:cNvPr id="4" name="Image 0" descr="preencoded.png"/>
          <p:cNvPicPr>
            <a:picLocks noChangeAspect="1"/>
          </p:cNvPicPr>
          <p:nvPr/>
        </p:nvPicPr>
        <p:blipFill>
          <a:blip r:embed="rId3"/>
          <a:stretch>
            <a:fillRect/>
          </a:stretch>
        </p:blipFill>
        <p:spPr>
          <a:xfrm>
            <a:off x="2277239" y="1159548"/>
            <a:ext cx="8023979" cy="67912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83870" y="380167"/>
            <a:ext cx="5842040" cy="431959"/>
          </a:xfrm>
          <a:prstGeom prst="rect">
            <a:avLst/>
          </a:prstGeom>
          <a:noFill/>
          <a:ln/>
        </p:spPr>
        <p:txBody>
          <a:bodyPr wrap="none" lIns="0" tIns="0" rIns="0" bIns="0" rtlCol="0" anchor="t"/>
          <a:lstStyle/>
          <a:p>
            <a:pPr marL="0" indent="0">
              <a:lnSpc>
                <a:spcPts val="3400"/>
              </a:lnSpc>
              <a:buNone/>
            </a:pPr>
            <a:r>
              <a:rPr lang="en-US" sz="2700" dirty="0">
                <a:solidFill>
                  <a:srgbClr val="F2F2F3"/>
                </a:solidFill>
                <a:latin typeface="Poppins Light" pitchFamily="34" charset="0"/>
                <a:ea typeface="Poppins Light" pitchFamily="34" charset="-122"/>
                <a:cs typeface="Poppins Light" pitchFamily="34" charset="-120"/>
              </a:rPr>
              <a:t>Feature Selection and Engineering</a:t>
            </a:r>
            <a:endParaRPr lang="en-US" sz="2700" dirty="0"/>
          </a:p>
        </p:txBody>
      </p:sp>
      <p:sp>
        <p:nvSpPr>
          <p:cNvPr id="3" name="Text 1"/>
          <p:cNvSpPr/>
          <p:nvPr/>
        </p:nvSpPr>
        <p:spPr>
          <a:xfrm>
            <a:off x="483870" y="1088588"/>
            <a:ext cx="13662660" cy="442198"/>
          </a:xfrm>
          <a:prstGeom prst="rect">
            <a:avLst/>
          </a:prstGeom>
          <a:noFill/>
          <a:ln/>
        </p:spPr>
        <p:txBody>
          <a:bodyPr wrap="square" lIns="0" tIns="0" rIns="0" bIns="0" rtlCol="0" anchor="t"/>
          <a:lstStyle/>
          <a:p>
            <a:pPr marL="0" indent="0">
              <a:lnSpc>
                <a:spcPts val="1700"/>
              </a:lnSpc>
              <a:buNone/>
            </a:pPr>
            <a:r>
              <a:rPr lang="en-US" sz="1050" dirty="0">
                <a:solidFill>
                  <a:srgbClr val="E5E0DF"/>
                </a:solidFill>
                <a:latin typeface="Roboto Light" pitchFamily="34" charset="0"/>
                <a:ea typeface="Roboto Light" pitchFamily="34" charset="-122"/>
                <a:cs typeface="Roboto Light" pitchFamily="34" charset="-120"/>
              </a:rPr>
              <a:t>To identify the most predictive features for the heart disease prediction model, Recursive Feature Elimination (RFE) was applied. This technique systematically removes less important features, revealing age, cholesterol, and chest pain type as the key factors contributing to the model's accuracy.</a:t>
            </a:r>
            <a:endParaRPr lang="en-US" sz="1050" dirty="0"/>
          </a:p>
        </p:txBody>
      </p:sp>
      <p:pic>
        <p:nvPicPr>
          <p:cNvPr id="4" name="Image 0" descr="preencoded.png"/>
          <p:cNvPicPr>
            <a:picLocks noChangeAspect="1"/>
          </p:cNvPicPr>
          <p:nvPr/>
        </p:nvPicPr>
        <p:blipFill>
          <a:blip r:embed="rId3"/>
          <a:stretch>
            <a:fillRect/>
          </a:stretch>
        </p:blipFill>
        <p:spPr>
          <a:xfrm>
            <a:off x="249694" y="1706137"/>
            <a:ext cx="13662660" cy="6523462"/>
          </a:xfrm>
          <a:prstGeom prst="rect">
            <a:avLst/>
          </a:prstGeom>
        </p:spPr>
      </p:pic>
      <p:sp>
        <p:nvSpPr>
          <p:cNvPr id="5" name="Text 2"/>
          <p:cNvSpPr/>
          <p:nvPr/>
        </p:nvSpPr>
        <p:spPr>
          <a:xfrm>
            <a:off x="483870" y="9492853"/>
            <a:ext cx="13662660" cy="221099"/>
          </a:xfrm>
          <a:prstGeom prst="rect">
            <a:avLst/>
          </a:prstGeom>
          <a:noFill/>
          <a:ln/>
        </p:spPr>
        <p:txBody>
          <a:bodyPr wrap="none" lIns="0" tIns="0" rIns="0" bIns="0" rtlCol="0" anchor="t"/>
          <a:lstStyle/>
          <a:p>
            <a:pPr marL="0" indent="0">
              <a:lnSpc>
                <a:spcPts val="1700"/>
              </a:lnSpc>
              <a:buNone/>
            </a:pPr>
            <a:r>
              <a:rPr lang="en-US" sz="1050" dirty="0">
                <a:solidFill>
                  <a:srgbClr val="E5E0DF"/>
                </a:solidFill>
                <a:latin typeface="Roboto Light" pitchFamily="34" charset="0"/>
                <a:ea typeface="Roboto Light" pitchFamily="34" charset="-122"/>
                <a:cs typeface="Roboto Light" pitchFamily="34" charset="-120"/>
              </a:rPr>
              <a:t>The Random Forest model's feature importance analysis further validates the crucial role that age, cholesterol, and chest pain type play in predicting heart disease risk.</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4018" y="561023"/>
            <a:ext cx="6430923" cy="637580"/>
          </a:xfrm>
          <a:prstGeom prst="rect">
            <a:avLst/>
          </a:prstGeom>
          <a:noFill/>
          <a:ln/>
        </p:spPr>
        <p:txBody>
          <a:bodyPr wrap="none" lIns="0" tIns="0" rIns="0" bIns="0" rtlCol="0" anchor="t"/>
          <a:lstStyle/>
          <a:p>
            <a:pPr marL="0" indent="0">
              <a:lnSpc>
                <a:spcPts val="5000"/>
              </a:lnSpc>
              <a:buNone/>
            </a:pPr>
            <a:r>
              <a:rPr lang="en-US" sz="4000" dirty="0">
                <a:solidFill>
                  <a:srgbClr val="F2F2F3"/>
                </a:solidFill>
                <a:latin typeface="Poppins Light" pitchFamily="34" charset="0"/>
                <a:ea typeface="Poppins Light" pitchFamily="34" charset="-122"/>
                <a:cs typeface="Poppins Light" pitchFamily="34" charset="-120"/>
              </a:rPr>
              <a:t>Model Selection Overview</a:t>
            </a:r>
            <a:endParaRPr lang="en-US" sz="4000" dirty="0"/>
          </a:p>
        </p:txBody>
      </p:sp>
      <p:pic>
        <p:nvPicPr>
          <p:cNvPr id="3" name="Image 0" descr="preencoded.png"/>
          <p:cNvPicPr>
            <a:picLocks noChangeAspect="1"/>
          </p:cNvPicPr>
          <p:nvPr/>
        </p:nvPicPr>
        <p:blipFill>
          <a:blip r:embed="rId3"/>
          <a:stretch>
            <a:fillRect/>
          </a:stretch>
        </p:blipFill>
        <p:spPr>
          <a:xfrm>
            <a:off x="3197662" y="1606629"/>
            <a:ext cx="1633776" cy="1175504"/>
          </a:xfrm>
          <a:prstGeom prst="rect">
            <a:avLst/>
          </a:prstGeom>
        </p:spPr>
      </p:pic>
      <p:sp>
        <p:nvSpPr>
          <p:cNvPr id="4" name="Text 1"/>
          <p:cNvSpPr/>
          <p:nvPr/>
        </p:nvSpPr>
        <p:spPr>
          <a:xfrm>
            <a:off x="3977164" y="2136100"/>
            <a:ext cx="74533" cy="408027"/>
          </a:xfrm>
          <a:prstGeom prst="rect">
            <a:avLst/>
          </a:prstGeom>
          <a:noFill/>
          <a:ln/>
        </p:spPr>
        <p:txBody>
          <a:bodyPr wrap="none" lIns="0" tIns="0" rIns="0" bIns="0" rtlCol="0" anchor="t"/>
          <a:lstStyle/>
          <a:p>
            <a:pPr marL="0" indent="0" algn="ctr">
              <a:lnSpc>
                <a:spcPts val="3200"/>
              </a:lnSpc>
              <a:buNone/>
            </a:pPr>
            <a:r>
              <a:rPr lang="en-US" sz="2000" dirty="0">
                <a:solidFill>
                  <a:srgbClr val="E5E0DF"/>
                </a:solidFill>
                <a:latin typeface="Poppins Light" pitchFamily="34" charset="0"/>
                <a:ea typeface="Poppins Light" pitchFamily="34" charset="-122"/>
                <a:cs typeface="Poppins Light" pitchFamily="34" charset="-120"/>
              </a:rPr>
              <a:t>1</a:t>
            </a:r>
            <a:endParaRPr lang="en-US" sz="2000" dirty="0"/>
          </a:p>
        </p:txBody>
      </p:sp>
      <p:sp>
        <p:nvSpPr>
          <p:cNvPr id="5" name="Text 2"/>
          <p:cNvSpPr/>
          <p:nvPr/>
        </p:nvSpPr>
        <p:spPr>
          <a:xfrm>
            <a:off x="5035391" y="1810583"/>
            <a:ext cx="2550438" cy="318730"/>
          </a:xfrm>
          <a:prstGeom prst="rect">
            <a:avLst/>
          </a:prstGeom>
          <a:noFill/>
          <a:ln/>
        </p:spPr>
        <p:txBody>
          <a:bodyPr wrap="none" lIns="0" tIns="0" rIns="0" bIns="0" rtlCol="0" anchor="t"/>
          <a:lstStyle/>
          <a:p>
            <a:pPr marL="0" indent="0" algn="l">
              <a:lnSpc>
                <a:spcPts val="2500"/>
              </a:lnSpc>
              <a:buNone/>
            </a:pPr>
            <a:r>
              <a:rPr lang="en-US" sz="2000" dirty="0">
                <a:solidFill>
                  <a:srgbClr val="E5E0DF"/>
                </a:solidFill>
                <a:latin typeface="Poppins Light" pitchFamily="34" charset="0"/>
                <a:ea typeface="Poppins Light" pitchFamily="34" charset="-122"/>
                <a:cs typeface="Poppins Light" pitchFamily="34" charset="-120"/>
              </a:rPr>
              <a:t>Decision Tree</a:t>
            </a:r>
            <a:endParaRPr lang="en-US" sz="2000" dirty="0"/>
          </a:p>
        </p:txBody>
      </p:sp>
      <p:sp>
        <p:nvSpPr>
          <p:cNvPr id="6" name="Text 3"/>
          <p:cNvSpPr/>
          <p:nvPr/>
        </p:nvSpPr>
        <p:spPr>
          <a:xfrm>
            <a:off x="5035391" y="2251710"/>
            <a:ext cx="4652605" cy="326469"/>
          </a:xfrm>
          <a:prstGeom prst="rect">
            <a:avLst/>
          </a:prstGeom>
          <a:noFill/>
          <a:ln/>
        </p:spPr>
        <p:txBody>
          <a:bodyPr wrap="none" lIns="0" tIns="0" rIns="0" bIns="0" rtlCol="0" anchor="t"/>
          <a:lstStyle/>
          <a:p>
            <a:pPr marL="0" indent="0" algn="l">
              <a:lnSpc>
                <a:spcPts val="2550"/>
              </a:lnSpc>
              <a:buNone/>
            </a:pPr>
            <a:r>
              <a:rPr lang="en-US" sz="1600" dirty="0">
                <a:solidFill>
                  <a:srgbClr val="E5E0DF"/>
                </a:solidFill>
                <a:latin typeface="Roboto Light" pitchFamily="34" charset="0"/>
                <a:ea typeface="Roboto Light" pitchFamily="34" charset="-122"/>
                <a:cs typeface="Roboto Light" pitchFamily="34" charset="-120"/>
              </a:rPr>
              <a:t>Interpretable model, handles non-linear relationships</a:t>
            </a:r>
            <a:endParaRPr lang="en-US" sz="1600" dirty="0"/>
          </a:p>
        </p:txBody>
      </p:sp>
      <p:sp>
        <p:nvSpPr>
          <p:cNvPr id="7" name="Shape 4"/>
          <p:cNvSpPr/>
          <p:nvPr/>
        </p:nvSpPr>
        <p:spPr>
          <a:xfrm>
            <a:off x="4882396" y="2798088"/>
            <a:ext cx="8983028" cy="11430"/>
          </a:xfrm>
          <a:prstGeom prst="roundRect">
            <a:avLst>
              <a:gd name="adj" fmla="val 749738"/>
            </a:avLst>
          </a:prstGeom>
          <a:solidFill>
            <a:srgbClr val="56565B"/>
          </a:solidFill>
          <a:ln/>
        </p:spPr>
      </p:sp>
      <p:pic>
        <p:nvPicPr>
          <p:cNvPr id="8" name="Image 1" descr="preencoded.png"/>
          <p:cNvPicPr>
            <a:picLocks noChangeAspect="1"/>
          </p:cNvPicPr>
          <p:nvPr/>
        </p:nvPicPr>
        <p:blipFill>
          <a:blip r:embed="rId4"/>
          <a:stretch>
            <a:fillRect/>
          </a:stretch>
        </p:blipFill>
        <p:spPr>
          <a:xfrm>
            <a:off x="2380774" y="2833092"/>
            <a:ext cx="3267551" cy="1175504"/>
          </a:xfrm>
          <a:prstGeom prst="rect">
            <a:avLst/>
          </a:prstGeom>
        </p:spPr>
      </p:pic>
      <p:sp>
        <p:nvSpPr>
          <p:cNvPr id="9" name="Text 5"/>
          <p:cNvSpPr/>
          <p:nvPr/>
        </p:nvSpPr>
        <p:spPr>
          <a:xfrm>
            <a:off x="3941564" y="3216831"/>
            <a:ext cx="145971" cy="408027"/>
          </a:xfrm>
          <a:prstGeom prst="rect">
            <a:avLst/>
          </a:prstGeom>
          <a:noFill/>
          <a:ln/>
        </p:spPr>
        <p:txBody>
          <a:bodyPr wrap="none" lIns="0" tIns="0" rIns="0" bIns="0" rtlCol="0" anchor="t"/>
          <a:lstStyle/>
          <a:p>
            <a:pPr marL="0" indent="0" algn="ctr">
              <a:lnSpc>
                <a:spcPts val="3200"/>
              </a:lnSpc>
              <a:buNone/>
            </a:pPr>
            <a:r>
              <a:rPr lang="en-US" sz="2000" dirty="0">
                <a:solidFill>
                  <a:srgbClr val="E5E0DF"/>
                </a:solidFill>
                <a:latin typeface="Poppins Light" pitchFamily="34" charset="0"/>
                <a:ea typeface="Poppins Light" pitchFamily="34" charset="-122"/>
                <a:cs typeface="Poppins Light" pitchFamily="34" charset="-120"/>
              </a:rPr>
              <a:t>2</a:t>
            </a:r>
            <a:endParaRPr lang="en-US" sz="2000" dirty="0"/>
          </a:p>
        </p:txBody>
      </p:sp>
      <p:sp>
        <p:nvSpPr>
          <p:cNvPr id="10" name="Text 6"/>
          <p:cNvSpPr/>
          <p:nvPr/>
        </p:nvSpPr>
        <p:spPr>
          <a:xfrm>
            <a:off x="5852279" y="3037046"/>
            <a:ext cx="2550438" cy="318730"/>
          </a:xfrm>
          <a:prstGeom prst="rect">
            <a:avLst/>
          </a:prstGeom>
          <a:noFill/>
          <a:ln/>
        </p:spPr>
        <p:txBody>
          <a:bodyPr wrap="none" lIns="0" tIns="0" rIns="0" bIns="0" rtlCol="0" anchor="t"/>
          <a:lstStyle/>
          <a:p>
            <a:pPr marL="0" indent="0" algn="l">
              <a:lnSpc>
                <a:spcPts val="2500"/>
              </a:lnSpc>
              <a:buNone/>
            </a:pPr>
            <a:r>
              <a:rPr lang="en-US" sz="2000" dirty="0">
                <a:solidFill>
                  <a:srgbClr val="E5E0DF"/>
                </a:solidFill>
                <a:latin typeface="Poppins Light" pitchFamily="34" charset="0"/>
                <a:ea typeface="Poppins Light" pitchFamily="34" charset="-122"/>
                <a:cs typeface="Poppins Light" pitchFamily="34" charset="-120"/>
              </a:rPr>
              <a:t>Random Forest</a:t>
            </a:r>
            <a:endParaRPr lang="en-US" sz="2000" dirty="0"/>
          </a:p>
        </p:txBody>
      </p:sp>
      <p:sp>
        <p:nvSpPr>
          <p:cNvPr id="11" name="Text 7"/>
          <p:cNvSpPr/>
          <p:nvPr/>
        </p:nvSpPr>
        <p:spPr>
          <a:xfrm>
            <a:off x="5852279" y="3478173"/>
            <a:ext cx="4692848" cy="326469"/>
          </a:xfrm>
          <a:prstGeom prst="rect">
            <a:avLst/>
          </a:prstGeom>
          <a:noFill/>
          <a:ln/>
        </p:spPr>
        <p:txBody>
          <a:bodyPr wrap="none" lIns="0" tIns="0" rIns="0" bIns="0" rtlCol="0" anchor="t"/>
          <a:lstStyle/>
          <a:p>
            <a:pPr marL="0" indent="0" algn="l">
              <a:lnSpc>
                <a:spcPts val="2550"/>
              </a:lnSpc>
              <a:buNone/>
            </a:pPr>
            <a:r>
              <a:rPr lang="en-US" sz="1600" dirty="0">
                <a:solidFill>
                  <a:srgbClr val="E5E0DF"/>
                </a:solidFill>
                <a:latin typeface="Roboto Light" pitchFamily="34" charset="0"/>
                <a:ea typeface="Roboto Light" pitchFamily="34" charset="-122"/>
                <a:cs typeface="Roboto Light" pitchFamily="34" charset="-120"/>
              </a:rPr>
              <a:t>Ensemble model, improves accuracy and robustness</a:t>
            </a:r>
            <a:endParaRPr lang="en-US" sz="1600" dirty="0"/>
          </a:p>
        </p:txBody>
      </p:sp>
      <p:sp>
        <p:nvSpPr>
          <p:cNvPr id="12" name="Shape 8"/>
          <p:cNvSpPr/>
          <p:nvPr/>
        </p:nvSpPr>
        <p:spPr>
          <a:xfrm>
            <a:off x="5699284" y="4024551"/>
            <a:ext cx="8166140" cy="11430"/>
          </a:xfrm>
          <a:prstGeom prst="roundRect">
            <a:avLst>
              <a:gd name="adj" fmla="val 749738"/>
            </a:avLst>
          </a:prstGeom>
          <a:solidFill>
            <a:srgbClr val="56565B"/>
          </a:solidFill>
          <a:ln/>
        </p:spPr>
      </p:sp>
      <p:pic>
        <p:nvPicPr>
          <p:cNvPr id="13" name="Image 2" descr="preencoded.png"/>
          <p:cNvPicPr>
            <a:picLocks noChangeAspect="1"/>
          </p:cNvPicPr>
          <p:nvPr/>
        </p:nvPicPr>
        <p:blipFill>
          <a:blip r:embed="rId5"/>
          <a:stretch>
            <a:fillRect/>
          </a:stretch>
        </p:blipFill>
        <p:spPr>
          <a:xfrm>
            <a:off x="1563886" y="4059555"/>
            <a:ext cx="4901327" cy="1175504"/>
          </a:xfrm>
          <a:prstGeom prst="rect">
            <a:avLst/>
          </a:prstGeom>
        </p:spPr>
      </p:pic>
      <p:sp>
        <p:nvSpPr>
          <p:cNvPr id="14" name="Text 9"/>
          <p:cNvSpPr/>
          <p:nvPr/>
        </p:nvSpPr>
        <p:spPr>
          <a:xfrm>
            <a:off x="3939778" y="4443293"/>
            <a:ext cx="149304" cy="408027"/>
          </a:xfrm>
          <a:prstGeom prst="rect">
            <a:avLst/>
          </a:prstGeom>
          <a:noFill/>
          <a:ln/>
        </p:spPr>
        <p:txBody>
          <a:bodyPr wrap="none" lIns="0" tIns="0" rIns="0" bIns="0" rtlCol="0" anchor="t"/>
          <a:lstStyle/>
          <a:p>
            <a:pPr marL="0" indent="0" algn="ctr">
              <a:lnSpc>
                <a:spcPts val="3200"/>
              </a:lnSpc>
              <a:buNone/>
            </a:pPr>
            <a:r>
              <a:rPr lang="en-US" sz="2000" dirty="0">
                <a:solidFill>
                  <a:srgbClr val="E5E0DF"/>
                </a:solidFill>
                <a:latin typeface="Poppins Light" pitchFamily="34" charset="0"/>
                <a:ea typeface="Poppins Light" pitchFamily="34" charset="-122"/>
                <a:cs typeface="Poppins Light" pitchFamily="34" charset="-120"/>
              </a:rPr>
              <a:t>3</a:t>
            </a:r>
            <a:endParaRPr lang="en-US" sz="2000" dirty="0"/>
          </a:p>
        </p:txBody>
      </p:sp>
      <p:sp>
        <p:nvSpPr>
          <p:cNvPr id="15" name="Text 10"/>
          <p:cNvSpPr/>
          <p:nvPr/>
        </p:nvSpPr>
        <p:spPr>
          <a:xfrm>
            <a:off x="6669167" y="4263509"/>
            <a:ext cx="2550438" cy="318730"/>
          </a:xfrm>
          <a:prstGeom prst="rect">
            <a:avLst/>
          </a:prstGeom>
          <a:noFill/>
          <a:ln/>
        </p:spPr>
        <p:txBody>
          <a:bodyPr wrap="none" lIns="0" tIns="0" rIns="0" bIns="0" rtlCol="0" anchor="t"/>
          <a:lstStyle/>
          <a:p>
            <a:pPr marL="0" indent="0" algn="l">
              <a:lnSpc>
                <a:spcPts val="2500"/>
              </a:lnSpc>
              <a:buNone/>
            </a:pPr>
            <a:r>
              <a:rPr lang="en-US" sz="2000" dirty="0">
                <a:solidFill>
                  <a:srgbClr val="E5E0DF"/>
                </a:solidFill>
                <a:latin typeface="Poppins Light" pitchFamily="34" charset="0"/>
                <a:ea typeface="Poppins Light" pitchFamily="34" charset="-122"/>
                <a:cs typeface="Poppins Light" pitchFamily="34" charset="-120"/>
              </a:rPr>
              <a:t>Logistic Regression</a:t>
            </a:r>
            <a:endParaRPr lang="en-US" sz="2000" dirty="0"/>
          </a:p>
        </p:txBody>
      </p:sp>
      <p:sp>
        <p:nvSpPr>
          <p:cNvPr id="16" name="Text 11"/>
          <p:cNvSpPr/>
          <p:nvPr/>
        </p:nvSpPr>
        <p:spPr>
          <a:xfrm>
            <a:off x="6669167" y="4704636"/>
            <a:ext cx="4619744" cy="326469"/>
          </a:xfrm>
          <a:prstGeom prst="rect">
            <a:avLst/>
          </a:prstGeom>
          <a:noFill/>
          <a:ln/>
        </p:spPr>
        <p:txBody>
          <a:bodyPr wrap="none" lIns="0" tIns="0" rIns="0" bIns="0" rtlCol="0" anchor="t"/>
          <a:lstStyle/>
          <a:p>
            <a:pPr marL="0" indent="0" algn="l">
              <a:lnSpc>
                <a:spcPts val="2550"/>
              </a:lnSpc>
              <a:buNone/>
            </a:pPr>
            <a:r>
              <a:rPr lang="en-US" sz="1600" dirty="0">
                <a:solidFill>
                  <a:srgbClr val="E5E0DF"/>
                </a:solidFill>
                <a:latin typeface="Roboto Light" pitchFamily="34" charset="0"/>
                <a:ea typeface="Roboto Light" pitchFamily="34" charset="-122"/>
                <a:cs typeface="Roboto Light" pitchFamily="34" charset="-120"/>
              </a:rPr>
              <a:t>Probabilistic model, suitable for binary classification</a:t>
            </a:r>
            <a:endParaRPr lang="en-US" sz="1600" dirty="0"/>
          </a:p>
        </p:txBody>
      </p:sp>
      <p:sp>
        <p:nvSpPr>
          <p:cNvPr id="17" name="Shape 12"/>
          <p:cNvSpPr/>
          <p:nvPr/>
        </p:nvSpPr>
        <p:spPr>
          <a:xfrm>
            <a:off x="6516172" y="5251013"/>
            <a:ext cx="7349252" cy="11430"/>
          </a:xfrm>
          <a:prstGeom prst="roundRect">
            <a:avLst>
              <a:gd name="adj" fmla="val 749738"/>
            </a:avLst>
          </a:prstGeom>
          <a:solidFill>
            <a:srgbClr val="56565B"/>
          </a:solidFill>
          <a:ln/>
        </p:spPr>
      </p:sp>
      <p:pic>
        <p:nvPicPr>
          <p:cNvPr id="18" name="Image 3" descr="preencoded.png"/>
          <p:cNvPicPr>
            <a:picLocks noChangeAspect="1"/>
          </p:cNvPicPr>
          <p:nvPr/>
        </p:nvPicPr>
        <p:blipFill>
          <a:blip r:embed="rId6"/>
          <a:stretch>
            <a:fillRect/>
          </a:stretch>
        </p:blipFill>
        <p:spPr>
          <a:xfrm>
            <a:off x="746998" y="5286018"/>
            <a:ext cx="6535103" cy="1175504"/>
          </a:xfrm>
          <a:prstGeom prst="rect">
            <a:avLst/>
          </a:prstGeom>
        </p:spPr>
      </p:pic>
      <p:sp>
        <p:nvSpPr>
          <p:cNvPr id="19" name="Text 13"/>
          <p:cNvSpPr/>
          <p:nvPr/>
        </p:nvSpPr>
        <p:spPr>
          <a:xfrm>
            <a:off x="3936325" y="5669756"/>
            <a:ext cx="156448" cy="408027"/>
          </a:xfrm>
          <a:prstGeom prst="rect">
            <a:avLst/>
          </a:prstGeom>
          <a:noFill/>
          <a:ln/>
        </p:spPr>
        <p:txBody>
          <a:bodyPr wrap="none" lIns="0" tIns="0" rIns="0" bIns="0" rtlCol="0" anchor="t"/>
          <a:lstStyle/>
          <a:p>
            <a:pPr marL="0" indent="0" algn="ctr">
              <a:lnSpc>
                <a:spcPts val="3200"/>
              </a:lnSpc>
              <a:buNone/>
            </a:pPr>
            <a:r>
              <a:rPr lang="en-US" sz="2000" dirty="0">
                <a:solidFill>
                  <a:srgbClr val="E5E0DF"/>
                </a:solidFill>
                <a:latin typeface="Poppins Light" pitchFamily="34" charset="0"/>
                <a:ea typeface="Poppins Light" pitchFamily="34" charset="-122"/>
                <a:cs typeface="Poppins Light" pitchFamily="34" charset="-120"/>
              </a:rPr>
              <a:t>4</a:t>
            </a:r>
            <a:endParaRPr lang="en-US" sz="2000" dirty="0"/>
          </a:p>
        </p:txBody>
      </p:sp>
      <p:sp>
        <p:nvSpPr>
          <p:cNvPr id="20" name="Text 14"/>
          <p:cNvSpPr/>
          <p:nvPr/>
        </p:nvSpPr>
        <p:spPr>
          <a:xfrm>
            <a:off x="7486055" y="5489972"/>
            <a:ext cx="3387447" cy="318730"/>
          </a:xfrm>
          <a:prstGeom prst="rect">
            <a:avLst/>
          </a:prstGeom>
          <a:noFill/>
          <a:ln/>
        </p:spPr>
        <p:txBody>
          <a:bodyPr wrap="none" lIns="0" tIns="0" rIns="0" bIns="0" rtlCol="0" anchor="t"/>
          <a:lstStyle/>
          <a:p>
            <a:pPr marL="0" indent="0" algn="l">
              <a:lnSpc>
                <a:spcPts val="2500"/>
              </a:lnSpc>
              <a:buNone/>
            </a:pPr>
            <a:r>
              <a:rPr lang="en-US" sz="2000" dirty="0">
                <a:solidFill>
                  <a:srgbClr val="E5E0DF"/>
                </a:solidFill>
                <a:latin typeface="Poppins Light" pitchFamily="34" charset="0"/>
                <a:ea typeface="Poppins Light" pitchFamily="34" charset="-122"/>
                <a:cs typeface="Poppins Light" pitchFamily="34" charset="-120"/>
              </a:rPr>
              <a:t>K-Nearest Neighbors (KNN)</a:t>
            </a:r>
            <a:endParaRPr lang="en-US" sz="2000" dirty="0"/>
          </a:p>
        </p:txBody>
      </p:sp>
      <p:sp>
        <p:nvSpPr>
          <p:cNvPr id="21" name="Text 15"/>
          <p:cNvSpPr/>
          <p:nvPr/>
        </p:nvSpPr>
        <p:spPr>
          <a:xfrm>
            <a:off x="7486055" y="5931098"/>
            <a:ext cx="4415552" cy="326469"/>
          </a:xfrm>
          <a:prstGeom prst="rect">
            <a:avLst/>
          </a:prstGeom>
          <a:noFill/>
          <a:ln/>
        </p:spPr>
        <p:txBody>
          <a:bodyPr wrap="none" lIns="0" tIns="0" rIns="0" bIns="0" rtlCol="0" anchor="t"/>
          <a:lstStyle/>
          <a:p>
            <a:pPr marL="0" indent="0" algn="l">
              <a:lnSpc>
                <a:spcPts val="2550"/>
              </a:lnSpc>
              <a:buNone/>
            </a:pPr>
            <a:r>
              <a:rPr lang="en-US" sz="1600" dirty="0">
                <a:solidFill>
                  <a:srgbClr val="E5E0DF"/>
                </a:solidFill>
                <a:latin typeface="Roboto Light" pitchFamily="34" charset="0"/>
                <a:ea typeface="Roboto Light" pitchFamily="34" charset="-122"/>
                <a:cs typeface="Roboto Light" pitchFamily="34" charset="-120"/>
              </a:rPr>
              <a:t>Simple, effective for complex decision boundaries</a:t>
            </a:r>
            <a:endParaRPr lang="en-US" sz="1600" dirty="0"/>
          </a:p>
        </p:txBody>
      </p:sp>
      <p:sp>
        <p:nvSpPr>
          <p:cNvPr id="22" name="Text 16"/>
          <p:cNvSpPr/>
          <p:nvPr/>
        </p:nvSpPr>
        <p:spPr>
          <a:xfrm>
            <a:off x="714018" y="6690955"/>
            <a:ext cx="13202364" cy="979408"/>
          </a:xfrm>
          <a:prstGeom prst="rect">
            <a:avLst/>
          </a:prstGeom>
          <a:noFill/>
          <a:ln/>
        </p:spPr>
        <p:txBody>
          <a:bodyPr wrap="square" lIns="0" tIns="0" rIns="0" bIns="0" rtlCol="0" anchor="t"/>
          <a:lstStyle/>
          <a:p>
            <a:pPr marL="0" indent="0">
              <a:lnSpc>
                <a:spcPts val="2550"/>
              </a:lnSpc>
              <a:buNone/>
            </a:pPr>
            <a:r>
              <a:rPr lang="en-US" sz="1600" dirty="0">
                <a:solidFill>
                  <a:srgbClr val="E5E0DF"/>
                </a:solidFill>
                <a:latin typeface="Roboto Light" pitchFamily="34" charset="0"/>
                <a:ea typeface="Roboto Light" pitchFamily="34" charset="-122"/>
                <a:cs typeface="Roboto Light" pitchFamily="34" charset="-120"/>
              </a:rPr>
              <a:t>These models were carefully selected for their unique capabilities in handling the heart disease dataset. The Decision Tree, Random Forest, Logistic Regression, and K-Nearest Neighbors (KNN) algorithms offer a diverse range of approaches to tackle the prediction task, ensuring a comprehensive analysis of the data.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44510"/>
            <a:ext cx="6418183"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Decision Tree Classifier</a:t>
            </a:r>
            <a:endParaRPr lang="en-US" sz="4450" dirty="0"/>
          </a:p>
        </p:txBody>
      </p:sp>
      <p:pic>
        <p:nvPicPr>
          <p:cNvPr id="3" name="Image 0" descr="preencoded.png"/>
          <p:cNvPicPr>
            <a:picLocks noChangeAspect="1"/>
          </p:cNvPicPr>
          <p:nvPr/>
        </p:nvPicPr>
        <p:blipFill>
          <a:blip r:embed="rId3"/>
          <a:stretch>
            <a:fillRect/>
          </a:stretch>
        </p:blipFill>
        <p:spPr>
          <a:xfrm>
            <a:off x="2978348" y="2006917"/>
            <a:ext cx="2152055" cy="1306949"/>
          </a:xfrm>
          <a:prstGeom prst="rect">
            <a:avLst/>
          </a:prstGeom>
        </p:spPr>
      </p:pic>
      <p:sp>
        <p:nvSpPr>
          <p:cNvPr id="4" name="Text 1"/>
          <p:cNvSpPr/>
          <p:nvPr/>
        </p:nvSpPr>
        <p:spPr>
          <a:xfrm>
            <a:off x="4013002" y="2595562"/>
            <a:ext cx="82748" cy="453509"/>
          </a:xfrm>
          <a:prstGeom prst="rect">
            <a:avLst/>
          </a:prstGeom>
          <a:noFill/>
          <a:ln/>
        </p:spPr>
        <p:txBody>
          <a:bodyPr wrap="none" lIns="0" tIns="0" rIns="0" bIns="0" rtlCol="0" anchor="t"/>
          <a:lstStyle/>
          <a:p>
            <a:pPr marL="0" indent="0" algn="ctr">
              <a:lnSpc>
                <a:spcPts val="3550"/>
              </a:lnSpc>
              <a:buNone/>
            </a:pPr>
            <a:r>
              <a:rPr lang="en-US" sz="2200" dirty="0">
                <a:solidFill>
                  <a:srgbClr val="E5E0DF"/>
                </a:solidFill>
                <a:latin typeface="Poppins Light" pitchFamily="34" charset="0"/>
                <a:ea typeface="Poppins Light" pitchFamily="34" charset="-122"/>
                <a:cs typeface="Poppins Light" pitchFamily="34" charset="-120"/>
              </a:rPr>
              <a:t>1</a:t>
            </a:r>
            <a:endParaRPr lang="en-US" sz="2200" dirty="0"/>
          </a:p>
        </p:txBody>
      </p:sp>
      <p:sp>
        <p:nvSpPr>
          <p:cNvPr id="5" name="Text 2"/>
          <p:cNvSpPr/>
          <p:nvPr/>
        </p:nvSpPr>
        <p:spPr>
          <a:xfrm>
            <a:off x="5357217" y="223373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Recursive Splitting</a:t>
            </a:r>
            <a:endParaRPr lang="en-US" sz="2200" dirty="0"/>
          </a:p>
        </p:txBody>
      </p:sp>
      <p:sp>
        <p:nvSpPr>
          <p:cNvPr id="6" name="Text 3"/>
          <p:cNvSpPr/>
          <p:nvPr/>
        </p:nvSpPr>
        <p:spPr>
          <a:xfrm>
            <a:off x="5357217" y="2724150"/>
            <a:ext cx="3626287"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Divides data based on feature values</a:t>
            </a:r>
            <a:endParaRPr lang="en-US" sz="1750" dirty="0"/>
          </a:p>
        </p:txBody>
      </p:sp>
      <p:sp>
        <p:nvSpPr>
          <p:cNvPr id="7" name="Shape 4"/>
          <p:cNvSpPr/>
          <p:nvPr/>
        </p:nvSpPr>
        <p:spPr>
          <a:xfrm>
            <a:off x="5187077" y="3326963"/>
            <a:ext cx="8592860" cy="15240"/>
          </a:xfrm>
          <a:prstGeom prst="roundRect">
            <a:avLst>
              <a:gd name="adj" fmla="val 625116"/>
            </a:avLst>
          </a:prstGeom>
          <a:solidFill>
            <a:srgbClr val="56565B"/>
          </a:solidFill>
          <a:ln/>
        </p:spPr>
      </p:sp>
      <p:pic>
        <p:nvPicPr>
          <p:cNvPr id="8" name="Image 1" descr="preencoded.png"/>
          <p:cNvPicPr>
            <a:picLocks noChangeAspect="1"/>
          </p:cNvPicPr>
          <p:nvPr/>
        </p:nvPicPr>
        <p:blipFill>
          <a:blip r:embed="rId4"/>
          <a:stretch>
            <a:fillRect/>
          </a:stretch>
        </p:blipFill>
        <p:spPr>
          <a:xfrm>
            <a:off x="1902381" y="3370540"/>
            <a:ext cx="4304109" cy="1306949"/>
          </a:xfrm>
          <a:prstGeom prst="rect">
            <a:avLst/>
          </a:prstGeom>
        </p:spPr>
      </p:pic>
      <p:sp>
        <p:nvSpPr>
          <p:cNvPr id="9" name="Text 5"/>
          <p:cNvSpPr/>
          <p:nvPr/>
        </p:nvSpPr>
        <p:spPr>
          <a:xfrm>
            <a:off x="3973235" y="3797260"/>
            <a:ext cx="162163" cy="453509"/>
          </a:xfrm>
          <a:prstGeom prst="rect">
            <a:avLst/>
          </a:prstGeom>
          <a:noFill/>
          <a:ln/>
        </p:spPr>
        <p:txBody>
          <a:bodyPr wrap="none" lIns="0" tIns="0" rIns="0" bIns="0" rtlCol="0" anchor="t"/>
          <a:lstStyle/>
          <a:p>
            <a:pPr marL="0" indent="0" algn="ctr">
              <a:lnSpc>
                <a:spcPts val="3550"/>
              </a:lnSpc>
              <a:buNone/>
            </a:pPr>
            <a:r>
              <a:rPr lang="en-US" sz="2200" dirty="0">
                <a:solidFill>
                  <a:srgbClr val="E5E0DF"/>
                </a:solidFill>
                <a:latin typeface="Poppins Light" pitchFamily="34" charset="0"/>
                <a:ea typeface="Poppins Light" pitchFamily="34" charset="-122"/>
                <a:cs typeface="Poppins Light" pitchFamily="34" charset="-120"/>
              </a:rPr>
              <a:t>2</a:t>
            </a:r>
            <a:endParaRPr lang="en-US" sz="2200" dirty="0"/>
          </a:p>
        </p:txBody>
      </p:sp>
      <p:sp>
        <p:nvSpPr>
          <p:cNvPr id="10" name="Text 6"/>
          <p:cNvSpPr/>
          <p:nvPr/>
        </p:nvSpPr>
        <p:spPr>
          <a:xfrm>
            <a:off x="6433304" y="35973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Tree Structure</a:t>
            </a:r>
            <a:endParaRPr lang="en-US" sz="2200" dirty="0"/>
          </a:p>
        </p:txBody>
      </p:sp>
      <p:sp>
        <p:nvSpPr>
          <p:cNvPr id="11" name="Text 7"/>
          <p:cNvSpPr/>
          <p:nvPr/>
        </p:nvSpPr>
        <p:spPr>
          <a:xfrm>
            <a:off x="6433304" y="4087773"/>
            <a:ext cx="3347561"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Classifies instances via branching</a:t>
            </a:r>
            <a:endParaRPr lang="en-US" sz="1750" dirty="0"/>
          </a:p>
        </p:txBody>
      </p:sp>
      <p:sp>
        <p:nvSpPr>
          <p:cNvPr id="12" name="Shape 8"/>
          <p:cNvSpPr/>
          <p:nvPr/>
        </p:nvSpPr>
        <p:spPr>
          <a:xfrm>
            <a:off x="6263164" y="4690586"/>
            <a:ext cx="7516773" cy="15240"/>
          </a:xfrm>
          <a:prstGeom prst="roundRect">
            <a:avLst>
              <a:gd name="adj" fmla="val 625116"/>
            </a:avLst>
          </a:prstGeom>
          <a:solidFill>
            <a:srgbClr val="56565B"/>
          </a:solidFill>
          <a:ln/>
        </p:spPr>
      </p:sp>
      <p:pic>
        <p:nvPicPr>
          <p:cNvPr id="13" name="Image 2" descr="preencoded.png"/>
          <p:cNvPicPr>
            <a:picLocks noChangeAspect="1"/>
          </p:cNvPicPr>
          <p:nvPr/>
        </p:nvPicPr>
        <p:blipFill>
          <a:blip r:embed="rId5"/>
          <a:stretch>
            <a:fillRect/>
          </a:stretch>
        </p:blipFill>
        <p:spPr>
          <a:xfrm>
            <a:off x="826294" y="4734163"/>
            <a:ext cx="6456164" cy="1306949"/>
          </a:xfrm>
          <a:prstGeom prst="rect">
            <a:avLst/>
          </a:prstGeom>
        </p:spPr>
      </p:pic>
      <p:sp>
        <p:nvSpPr>
          <p:cNvPr id="14" name="Text 9"/>
          <p:cNvSpPr/>
          <p:nvPr/>
        </p:nvSpPr>
        <p:spPr>
          <a:xfrm>
            <a:off x="3971330" y="5160883"/>
            <a:ext cx="165854" cy="453509"/>
          </a:xfrm>
          <a:prstGeom prst="rect">
            <a:avLst/>
          </a:prstGeom>
          <a:noFill/>
          <a:ln/>
        </p:spPr>
        <p:txBody>
          <a:bodyPr wrap="none" lIns="0" tIns="0" rIns="0" bIns="0" rtlCol="0" anchor="t"/>
          <a:lstStyle/>
          <a:p>
            <a:pPr marL="0" indent="0" algn="ctr">
              <a:lnSpc>
                <a:spcPts val="3550"/>
              </a:lnSpc>
              <a:buNone/>
            </a:pPr>
            <a:r>
              <a:rPr lang="en-US" sz="2200" dirty="0">
                <a:solidFill>
                  <a:srgbClr val="E5E0DF"/>
                </a:solidFill>
                <a:latin typeface="Poppins Light" pitchFamily="34" charset="0"/>
                <a:ea typeface="Poppins Light" pitchFamily="34" charset="-122"/>
                <a:cs typeface="Poppins Light" pitchFamily="34" charset="-120"/>
              </a:rPr>
              <a:t>3</a:t>
            </a:r>
            <a:endParaRPr lang="en-US" sz="2200" dirty="0"/>
          </a:p>
        </p:txBody>
      </p:sp>
      <p:sp>
        <p:nvSpPr>
          <p:cNvPr id="15" name="Text 10"/>
          <p:cNvSpPr/>
          <p:nvPr/>
        </p:nvSpPr>
        <p:spPr>
          <a:xfrm>
            <a:off x="7509272" y="49609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Predictive Modeling</a:t>
            </a:r>
            <a:endParaRPr lang="en-US" sz="2200" dirty="0"/>
          </a:p>
        </p:txBody>
      </p:sp>
      <p:sp>
        <p:nvSpPr>
          <p:cNvPr id="16" name="Text 11"/>
          <p:cNvSpPr/>
          <p:nvPr/>
        </p:nvSpPr>
        <p:spPr>
          <a:xfrm>
            <a:off x="7509272" y="5451396"/>
            <a:ext cx="3812619"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Forecasts outcomes like heart disease</a:t>
            </a:r>
            <a:endParaRPr lang="en-US" sz="1750" dirty="0"/>
          </a:p>
        </p:txBody>
      </p:sp>
      <p:sp>
        <p:nvSpPr>
          <p:cNvPr id="17" name="Text 12"/>
          <p:cNvSpPr/>
          <p:nvPr/>
        </p:nvSpPr>
        <p:spPr>
          <a:xfrm>
            <a:off x="793790" y="6296263"/>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The Decision Tree Classifier is a powerful machine learning model that recursively splits data based on feature values, creating a tree-like structure to classify instances. This visual, hierarchical approach can be effectively applied to predict complex outcomes, such as the risk of heart disease based on factors like cholesterol and chest pain.</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198840"/>
            <a:ext cx="6933605"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Random Forest Classifier</a:t>
            </a:r>
            <a:endParaRPr lang="en-US" sz="4450" dirty="0"/>
          </a:p>
        </p:txBody>
      </p:sp>
      <p:sp>
        <p:nvSpPr>
          <p:cNvPr id="3" name="Text 1"/>
          <p:cNvSpPr/>
          <p:nvPr/>
        </p:nvSpPr>
        <p:spPr>
          <a:xfrm>
            <a:off x="793790" y="247459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F2F3"/>
                </a:solidFill>
                <a:latin typeface="Poppins Light" pitchFamily="34" charset="0"/>
                <a:ea typeface="Poppins Light" pitchFamily="34" charset="-122"/>
                <a:cs typeface="Poppins Light" pitchFamily="34" charset="-120"/>
              </a:rPr>
              <a:t>Ensemble Learning</a:t>
            </a:r>
            <a:endParaRPr lang="en-US" sz="2200" dirty="0"/>
          </a:p>
        </p:txBody>
      </p:sp>
      <p:sp>
        <p:nvSpPr>
          <p:cNvPr id="4" name="Text 2"/>
          <p:cNvSpPr/>
          <p:nvPr/>
        </p:nvSpPr>
        <p:spPr>
          <a:xfrm>
            <a:off x="793790" y="3055739"/>
            <a:ext cx="6244709"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Random Forest combines multiple decision trees to create a robust model, reducing the risk of overfitting.</a:t>
            </a:r>
            <a:endParaRPr lang="en-US" sz="1750" dirty="0"/>
          </a:p>
        </p:txBody>
      </p:sp>
      <p:sp>
        <p:nvSpPr>
          <p:cNvPr id="5" name="Text 3"/>
          <p:cNvSpPr/>
          <p:nvPr/>
        </p:nvSpPr>
        <p:spPr>
          <a:xfrm>
            <a:off x="793790" y="4008358"/>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F2F3"/>
                </a:solidFill>
                <a:latin typeface="Poppins Light" pitchFamily="34" charset="0"/>
                <a:ea typeface="Poppins Light" pitchFamily="34" charset="-122"/>
                <a:cs typeface="Poppins Light" pitchFamily="34" charset="-120"/>
              </a:rPr>
              <a:t>Advantages</a:t>
            </a:r>
            <a:endParaRPr lang="en-US" sz="2200" dirty="0"/>
          </a:p>
        </p:txBody>
      </p:sp>
      <p:sp>
        <p:nvSpPr>
          <p:cNvPr id="6" name="Text 4"/>
          <p:cNvSpPr/>
          <p:nvPr/>
        </p:nvSpPr>
        <p:spPr>
          <a:xfrm>
            <a:off x="793790" y="4589502"/>
            <a:ext cx="6244709"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Random Forest performs well with complex, non-linear data and effectively models interactions between risk factors.</a:t>
            </a:r>
            <a:endParaRPr lang="en-US" sz="1750" dirty="0"/>
          </a:p>
        </p:txBody>
      </p:sp>
      <p:pic>
        <p:nvPicPr>
          <p:cNvPr id="7" name="Image 0" descr="preencoded.png"/>
          <p:cNvPicPr>
            <a:picLocks noChangeAspect="1"/>
          </p:cNvPicPr>
          <p:nvPr/>
        </p:nvPicPr>
        <p:blipFill>
          <a:blip r:embed="rId3"/>
          <a:stretch>
            <a:fillRect/>
          </a:stretch>
        </p:blipFill>
        <p:spPr>
          <a:xfrm>
            <a:off x="7599521" y="2502932"/>
            <a:ext cx="6244709" cy="42726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83569"/>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Logistic Regression</a:t>
            </a:r>
            <a:endParaRPr lang="en-US" sz="4450" dirty="0"/>
          </a:p>
        </p:txBody>
      </p:sp>
      <p:sp>
        <p:nvSpPr>
          <p:cNvPr id="4" name="Text 1"/>
          <p:cNvSpPr/>
          <p:nvPr/>
        </p:nvSpPr>
        <p:spPr>
          <a:xfrm>
            <a:off x="793790" y="2932509"/>
            <a:ext cx="7556421" cy="725805"/>
          </a:xfrm>
          <a:prstGeom prst="rect">
            <a:avLst/>
          </a:prstGeom>
          <a:noFill/>
          <a:ln/>
        </p:spPr>
        <p:txBody>
          <a:bodyPr wrap="squar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Logistic Regression</a:t>
            </a:r>
            <a:r>
              <a:rPr lang="en-US" sz="1750" dirty="0">
                <a:solidFill>
                  <a:srgbClr val="E5E0DF"/>
                </a:solidFill>
                <a:latin typeface="Roboto Light" pitchFamily="34" charset="0"/>
                <a:ea typeface="Roboto Light" pitchFamily="34" charset="-122"/>
                <a:cs typeface="Roboto Light" pitchFamily="34" charset="-120"/>
              </a:rPr>
              <a:t> is a statistical model that predicts binary outcomes using a logistic function, modeling the probability of a target variable.</a:t>
            </a:r>
            <a:endParaRPr lang="en-US" sz="1750" dirty="0"/>
          </a:p>
        </p:txBody>
      </p:sp>
      <p:sp>
        <p:nvSpPr>
          <p:cNvPr id="5" name="Text 2"/>
          <p:cNvSpPr/>
          <p:nvPr/>
        </p:nvSpPr>
        <p:spPr>
          <a:xfrm>
            <a:off x="793790" y="3913465"/>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It uses the logistic function to estimate the probability of heart disease, making it suitable for determining the presence (1) or absence (0) of heart disease.</a:t>
            </a:r>
            <a:endParaRPr lang="en-US" sz="1750" dirty="0"/>
          </a:p>
        </p:txBody>
      </p:sp>
      <p:sp>
        <p:nvSpPr>
          <p:cNvPr id="6" name="Text 3"/>
          <p:cNvSpPr/>
          <p:nvPr/>
        </p:nvSpPr>
        <p:spPr>
          <a:xfrm>
            <a:off x="793790" y="5257324"/>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However, Logistic Regression performs best when features have linear relationships, which can be a limitation when analyzing complex medical data.</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008227"/>
            <a:ext cx="7530584"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K-Nearest Neighbors (KNN)</a:t>
            </a:r>
            <a:endParaRPr lang="en-US" sz="4450" dirty="0"/>
          </a:p>
        </p:txBody>
      </p:sp>
      <p:sp>
        <p:nvSpPr>
          <p:cNvPr id="3" name="Text 1"/>
          <p:cNvSpPr/>
          <p:nvPr/>
        </p:nvSpPr>
        <p:spPr>
          <a:xfrm>
            <a:off x="793790" y="3170634"/>
            <a:ext cx="13042821" cy="1088708"/>
          </a:xfrm>
          <a:prstGeom prst="rect">
            <a:avLst/>
          </a:prstGeom>
          <a:noFill/>
          <a:ln/>
        </p:spPr>
        <p:txBody>
          <a:bodyPr wrap="squar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K-Nearest Neighbors (KNN)</a:t>
            </a:r>
            <a:r>
              <a:rPr lang="en-US" sz="1750" dirty="0">
                <a:solidFill>
                  <a:srgbClr val="E5E0DF"/>
                </a:solidFill>
                <a:latin typeface="Roboto Light" pitchFamily="34" charset="0"/>
                <a:ea typeface="Roboto Light" pitchFamily="34" charset="-122"/>
                <a:cs typeface="Roboto Light" pitchFamily="34" charset="-120"/>
              </a:rPr>
              <a:t> is an instance-based learning algorithm that classifies new instances by comparing them to the 'k' closest examples in the feature space. Unlike some other machine learning models, KNN makes predictions based on the </a:t>
            </a:r>
            <a:r>
              <a:rPr lang="en-US" sz="1750" b="1" dirty="0">
                <a:solidFill>
                  <a:srgbClr val="E5E0DF"/>
                </a:solidFill>
                <a:latin typeface="Roboto Light" pitchFamily="34" charset="0"/>
                <a:ea typeface="Roboto Light" pitchFamily="34" charset="-122"/>
                <a:cs typeface="Roboto Light" pitchFamily="34" charset="-120"/>
              </a:rPr>
              <a:t>distance</a:t>
            </a:r>
            <a:r>
              <a:rPr lang="en-US" sz="1750" dirty="0">
                <a:solidFill>
                  <a:srgbClr val="E5E0DF"/>
                </a:solidFill>
                <a:latin typeface="Roboto Light" pitchFamily="34" charset="0"/>
                <a:ea typeface="Roboto Light" pitchFamily="34" charset="-122"/>
                <a:cs typeface="Roboto Light" pitchFamily="34" charset="-120"/>
              </a:rPr>
              <a:t> to the nearest data points rather than learning an underlying model.</a:t>
            </a:r>
            <a:endParaRPr lang="en-US" sz="1750" dirty="0"/>
          </a:p>
        </p:txBody>
      </p:sp>
      <p:sp>
        <p:nvSpPr>
          <p:cNvPr id="4" name="Text 2"/>
          <p:cNvSpPr/>
          <p:nvPr/>
        </p:nvSpPr>
        <p:spPr>
          <a:xfrm>
            <a:off x="793790" y="4514493"/>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One key consideration when applying KNN is the </a:t>
            </a:r>
            <a:r>
              <a:rPr lang="en-US" sz="1750" b="1" dirty="0">
                <a:solidFill>
                  <a:srgbClr val="E5E0DF"/>
                </a:solidFill>
                <a:latin typeface="Roboto Light" pitchFamily="34" charset="0"/>
                <a:ea typeface="Roboto Light" pitchFamily="34" charset="-122"/>
                <a:cs typeface="Roboto Light" pitchFamily="34" charset="-120"/>
              </a:rPr>
              <a:t>importance of scaling</a:t>
            </a:r>
            <a:r>
              <a:rPr lang="en-US" sz="1750" dirty="0">
                <a:solidFill>
                  <a:srgbClr val="E5E0DF"/>
                </a:solidFill>
                <a:latin typeface="Roboto Light" pitchFamily="34" charset="0"/>
                <a:ea typeface="Roboto Light" pitchFamily="34" charset="-122"/>
                <a:cs typeface="Roboto Light" pitchFamily="34" charset="-120"/>
              </a:rPr>
              <a:t> the input features. Since KNN relies on distance measures, the features must be on a similar scale to avoid certain features dominating the distance calculations and skewing the results.</a:t>
            </a:r>
            <a:endParaRPr lang="en-US" sz="1750" dirty="0"/>
          </a:p>
        </p:txBody>
      </p:sp>
      <p:sp>
        <p:nvSpPr>
          <p:cNvPr id="5" name="Text 3"/>
          <p:cNvSpPr/>
          <p:nvPr/>
        </p:nvSpPr>
        <p:spPr>
          <a:xfrm>
            <a:off x="793790" y="5495449"/>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KNN is a powerful tool for </a:t>
            </a:r>
            <a:r>
              <a:rPr lang="en-US" sz="1750" b="1" dirty="0">
                <a:solidFill>
                  <a:srgbClr val="E5E0DF"/>
                </a:solidFill>
                <a:latin typeface="Roboto Light" pitchFamily="34" charset="0"/>
                <a:ea typeface="Roboto Light" pitchFamily="34" charset="-122"/>
                <a:cs typeface="Roboto Light" pitchFamily="34" charset="-120"/>
              </a:rPr>
              <a:t>classifying new patients</a:t>
            </a:r>
            <a:r>
              <a:rPr lang="en-US" sz="1750" dirty="0">
                <a:solidFill>
                  <a:srgbClr val="E5E0DF"/>
                </a:solidFill>
                <a:latin typeface="Roboto Light" pitchFamily="34" charset="0"/>
                <a:ea typeface="Roboto Light" pitchFamily="34" charset="-122"/>
                <a:cs typeface="Roboto Light" pitchFamily="34" charset="-120"/>
              </a:rPr>
              <a:t> based on the similarity to known cases in the training data. This allows the model to make predictions about the likelihood of heart disease based on factors like age, cholesterol levels, and chest pain type.</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933688"/>
            <a:ext cx="6427827"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Model Training Process</a:t>
            </a:r>
            <a:endParaRPr lang="en-US" sz="4450" dirty="0"/>
          </a:p>
        </p:txBody>
      </p:sp>
      <p:sp>
        <p:nvSpPr>
          <p:cNvPr id="3" name="Shape 1"/>
          <p:cNvSpPr/>
          <p:nvPr/>
        </p:nvSpPr>
        <p:spPr>
          <a:xfrm>
            <a:off x="793790" y="4695944"/>
            <a:ext cx="13042821" cy="30480"/>
          </a:xfrm>
          <a:prstGeom prst="roundRect">
            <a:avLst>
              <a:gd name="adj" fmla="val 312558"/>
            </a:avLst>
          </a:prstGeom>
          <a:solidFill>
            <a:srgbClr val="56565B"/>
          </a:solidFill>
          <a:ln/>
        </p:spPr>
      </p:sp>
      <p:sp>
        <p:nvSpPr>
          <p:cNvPr id="4" name="Shape 2"/>
          <p:cNvSpPr/>
          <p:nvPr/>
        </p:nvSpPr>
        <p:spPr>
          <a:xfrm>
            <a:off x="3982522" y="3902154"/>
            <a:ext cx="30480" cy="793790"/>
          </a:xfrm>
          <a:prstGeom prst="roundRect">
            <a:avLst>
              <a:gd name="adj" fmla="val 312558"/>
            </a:avLst>
          </a:prstGeom>
          <a:solidFill>
            <a:srgbClr val="56565B"/>
          </a:solidFill>
          <a:ln/>
        </p:spPr>
      </p:sp>
      <p:sp>
        <p:nvSpPr>
          <p:cNvPr id="5" name="Shape 3"/>
          <p:cNvSpPr/>
          <p:nvPr/>
        </p:nvSpPr>
        <p:spPr>
          <a:xfrm>
            <a:off x="3742611" y="4440793"/>
            <a:ext cx="510302" cy="510302"/>
          </a:xfrm>
          <a:prstGeom prst="roundRect">
            <a:avLst>
              <a:gd name="adj" fmla="val 18669"/>
            </a:avLst>
          </a:prstGeom>
          <a:solidFill>
            <a:srgbClr val="3D3D42"/>
          </a:solidFill>
          <a:ln w="7620">
            <a:solidFill>
              <a:srgbClr val="56565B"/>
            </a:solidFill>
            <a:prstDash val="solid"/>
          </a:ln>
        </p:spPr>
      </p:sp>
      <p:sp>
        <p:nvSpPr>
          <p:cNvPr id="6" name="Text 4"/>
          <p:cNvSpPr/>
          <p:nvPr/>
        </p:nvSpPr>
        <p:spPr>
          <a:xfrm>
            <a:off x="3947993" y="4525804"/>
            <a:ext cx="99417"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1</a:t>
            </a:r>
            <a:endParaRPr lang="en-US" sz="2650" dirty="0"/>
          </a:p>
        </p:txBody>
      </p:sp>
      <p:sp>
        <p:nvSpPr>
          <p:cNvPr id="7" name="Text 5"/>
          <p:cNvSpPr/>
          <p:nvPr/>
        </p:nvSpPr>
        <p:spPr>
          <a:xfrm>
            <a:off x="2580084" y="209609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E5E0DF"/>
                </a:solidFill>
                <a:latin typeface="Poppins Light" pitchFamily="34" charset="0"/>
                <a:ea typeface="Poppins Light" pitchFamily="34" charset="-122"/>
                <a:cs typeface="Poppins Light" pitchFamily="34" charset="-120"/>
              </a:rPr>
              <a:t>Train-Test Split</a:t>
            </a:r>
            <a:endParaRPr lang="en-US" sz="2200" dirty="0"/>
          </a:p>
        </p:txBody>
      </p:sp>
      <p:sp>
        <p:nvSpPr>
          <p:cNvPr id="8" name="Text 6"/>
          <p:cNvSpPr/>
          <p:nvPr/>
        </p:nvSpPr>
        <p:spPr>
          <a:xfrm>
            <a:off x="1020604" y="2586514"/>
            <a:ext cx="5954316" cy="1088708"/>
          </a:xfrm>
          <a:prstGeom prst="rect">
            <a:avLst/>
          </a:prstGeom>
          <a:noFill/>
          <a:ln/>
        </p:spPr>
        <p:txBody>
          <a:bodyPr wrap="square" lIns="0" tIns="0" rIns="0" bIns="0" rtlCol="0" anchor="t"/>
          <a:lstStyle/>
          <a:p>
            <a:pPr marL="0" indent="0" algn="ctr">
              <a:lnSpc>
                <a:spcPts val="2850"/>
              </a:lnSpc>
              <a:buNone/>
            </a:pPr>
            <a:r>
              <a:rPr lang="en-US" sz="1750" dirty="0">
                <a:solidFill>
                  <a:srgbClr val="E5E0DF"/>
                </a:solidFill>
                <a:latin typeface="Roboto Light" pitchFamily="34" charset="0"/>
                <a:ea typeface="Roboto Light" pitchFamily="34" charset="-122"/>
                <a:cs typeface="Roboto Light" pitchFamily="34" charset="-120"/>
              </a:rPr>
              <a:t>The dataset was split into 75% for training and 25% for testing, ensuring the model performance is not biased towards a specific subset of the data.</a:t>
            </a:r>
            <a:endParaRPr lang="en-US" sz="1750" dirty="0"/>
          </a:p>
        </p:txBody>
      </p:sp>
      <p:sp>
        <p:nvSpPr>
          <p:cNvPr id="9" name="Shape 7"/>
          <p:cNvSpPr/>
          <p:nvPr/>
        </p:nvSpPr>
        <p:spPr>
          <a:xfrm>
            <a:off x="7299841" y="4695944"/>
            <a:ext cx="30480" cy="793790"/>
          </a:xfrm>
          <a:prstGeom prst="roundRect">
            <a:avLst>
              <a:gd name="adj" fmla="val 312558"/>
            </a:avLst>
          </a:prstGeom>
          <a:solidFill>
            <a:srgbClr val="56565B"/>
          </a:solidFill>
          <a:ln/>
        </p:spPr>
      </p:sp>
      <p:sp>
        <p:nvSpPr>
          <p:cNvPr id="10" name="Shape 8"/>
          <p:cNvSpPr/>
          <p:nvPr/>
        </p:nvSpPr>
        <p:spPr>
          <a:xfrm>
            <a:off x="7059930" y="4440793"/>
            <a:ext cx="510302" cy="510302"/>
          </a:xfrm>
          <a:prstGeom prst="roundRect">
            <a:avLst>
              <a:gd name="adj" fmla="val 18669"/>
            </a:avLst>
          </a:prstGeom>
          <a:solidFill>
            <a:srgbClr val="3D3D42"/>
          </a:solidFill>
          <a:ln w="7620">
            <a:solidFill>
              <a:srgbClr val="56565B"/>
            </a:solidFill>
            <a:prstDash val="solid"/>
          </a:ln>
        </p:spPr>
      </p:sp>
      <p:sp>
        <p:nvSpPr>
          <p:cNvPr id="11" name="Text 9"/>
          <p:cNvSpPr/>
          <p:nvPr/>
        </p:nvSpPr>
        <p:spPr>
          <a:xfrm>
            <a:off x="7217688" y="4525804"/>
            <a:ext cx="194667"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2</a:t>
            </a:r>
            <a:endParaRPr lang="en-US" sz="2650" dirty="0"/>
          </a:p>
        </p:txBody>
      </p:sp>
      <p:sp>
        <p:nvSpPr>
          <p:cNvPr id="12" name="Text 10"/>
          <p:cNvSpPr/>
          <p:nvPr/>
        </p:nvSpPr>
        <p:spPr>
          <a:xfrm>
            <a:off x="5897523" y="5716667"/>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E5E0DF"/>
                </a:solidFill>
                <a:latin typeface="Poppins Light" pitchFamily="34" charset="0"/>
                <a:ea typeface="Poppins Light" pitchFamily="34" charset="-122"/>
                <a:cs typeface="Poppins Light" pitchFamily="34" charset="-120"/>
              </a:rPr>
              <a:t>Cross-Validation</a:t>
            </a:r>
            <a:endParaRPr lang="en-US" sz="2200" dirty="0"/>
          </a:p>
        </p:txBody>
      </p:sp>
      <p:sp>
        <p:nvSpPr>
          <p:cNvPr id="13" name="Text 11"/>
          <p:cNvSpPr/>
          <p:nvPr/>
        </p:nvSpPr>
        <p:spPr>
          <a:xfrm>
            <a:off x="4337923" y="6207085"/>
            <a:ext cx="5954435" cy="1088708"/>
          </a:xfrm>
          <a:prstGeom prst="rect">
            <a:avLst/>
          </a:prstGeom>
          <a:noFill/>
          <a:ln/>
        </p:spPr>
        <p:txBody>
          <a:bodyPr wrap="square" lIns="0" tIns="0" rIns="0" bIns="0" rtlCol="0" anchor="t"/>
          <a:lstStyle/>
          <a:p>
            <a:pPr marL="0" indent="0" algn="ctr">
              <a:lnSpc>
                <a:spcPts val="2850"/>
              </a:lnSpc>
              <a:buNone/>
            </a:pPr>
            <a:r>
              <a:rPr lang="en-US" sz="1750" dirty="0">
                <a:solidFill>
                  <a:srgbClr val="E5E0DF"/>
                </a:solidFill>
                <a:latin typeface="Roboto Light" pitchFamily="34" charset="0"/>
                <a:ea typeface="Roboto Light" pitchFamily="34" charset="-122"/>
                <a:cs typeface="Roboto Light" pitchFamily="34" charset="-120"/>
              </a:rPr>
              <a:t>To further validate the model's generalization, a cross-validation technique was applied, evaluating performance across multiple dataset partitions.</a:t>
            </a:r>
            <a:endParaRPr lang="en-US" sz="1750" dirty="0"/>
          </a:p>
        </p:txBody>
      </p:sp>
      <p:sp>
        <p:nvSpPr>
          <p:cNvPr id="14" name="Shape 12"/>
          <p:cNvSpPr/>
          <p:nvPr/>
        </p:nvSpPr>
        <p:spPr>
          <a:xfrm>
            <a:off x="10617279" y="3902154"/>
            <a:ext cx="30480" cy="793790"/>
          </a:xfrm>
          <a:prstGeom prst="roundRect">
            <a:avLst>
              <a:gd name="adj" fmla="val 312558"/>
            </a:avLst>
          </a:prstGeom>
          <a:solidFill>
            <a:srgbClr val="56565B"/>
          </a:solidFill>
          <a:ln/>
        </p:spPr>
      </p:sp>
      <p:sp>
        <p:nvSpPr>
          <p:cNvPr id="15" name="Shape 13"/>
          <p:cNvSpPr/>
          <p:nvPr/>
        </p:nvSpPr>
        <p:spPr>
          <a:xfrm>
            <a:off x="10377368" y="4440793"/>
            <a:ext cx="510302" cy="510302"/>
          </a:xfrm>
          <a:prstGeom prst="roundRect">
            <a:avLst>
              <a:gd name="adj" fmla="val 18669"/>
            </a:avLst>
          </a:prstGeom>
          <a:solidFill>
            <a:srgbClr val="3D3D42"/>
          </a:solidFill>
          <a:ln w="7620">
            <a:solidFill>
              <a:srgbClr val="56565B"/>
            </a:solidFill>
            <a:prstDash val="solid"/>
          </a:ln>
        </p:spPr>
      </p:sp>
      <p:sp>
        <p:nvSpPr>
          <p:cNvPr id="16" name="Text 14"/>
          <p:cNvSpPr/>
          <p:nvPr/>
        </p:nvSpPr>
        <p:spPr>
          <a:xfrm>
            <a:off x="10532983" y="4525804"/>
            <a:ext cx="199072" cy="34028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3</a:t>
            </a:r>
            <a:endParaRPr lang="en-US" sz="2650" dirty="0"/>
          </a:p>
        </p:txBody>
      </p:sp>
      <p:sp>
        <p:nvSpPr>
          <p:cNvPr id="17" name="Text 15"/>
          <p:cNvSpPr/>
          <p:nvPr/>
        </p:nvSpPr>
        <p:spPr>
          <a:xfrm>
            <a:off x="8953381" y="2096095"/>
            <a:ext cx="3358277" cy="354330"/>
          </a:xfrm>
          <a:prstGeom prst="rect">
            <a:avLst/>
          </a:prstGeom>
          <a:noFill/>
          <a:ln/>
        </p:spPr>
        <p:txBody>
          <a:bodyPr wrap="none" lIns="0" tIns="0" rIns="0" bIns="0" rtlCol="0" anchor="t"/>
          <a:lstStyle/>
          <a:p>
            <a:pPr marL="0" indent="0" algn="ctr">
              <a:lnSpc>
                <a:spcPts val="2750"/>
              </a:lnSpc>
              <a:buNone/>
            </a:pPr>
            <a:r>
              <a:rPr lang="en-US" sz="2200" dirty="0">
                <a:solidFill>
                  <a:srgbClr val="E5E0DF"/>
                </a:solidFill>
                <a:latin typeface="Poppins Light" pitchFamily="34" charset="0"/>
                <a:ea typeface="Poppins Light" pitchFamily="34" charset="-122"/>
                <a:cs typeface="Poppins Light" pitchFamily="34" charset="-120"/>
              </a:rPr>
              <a:t>Hyperparameter Tuning</a:t>
            </a:r>
            <a:endParaRPr lang="en-US" sz="2200" dirty="0"/>
          </a:p>
        </p:txBody>
      </p:sp>
      <p:sp>
        <p:nvSpPr>
          <p:cNvPr id="18" name="Text 16"/>
          <p:cNvSpPr/>
          <p:nvPr/>
        </p:nvSpPr>
        <p:spPr>
          <a:xfrm>
            <a:off x="7655362" y="2586514"/>
            <a:ext cx="5954435" cy="1088708"/>
          </a:xfrm>
          <a:prstGeom prst="rect">
            <a:avLst/>
          </a:prstGeom>
          <a:noFill/>
          <a:ln/>
        </p:spPr>
        <p:txBody>
          <a:bodyPr wrap="square" lIns="0" tIns="0" rIns="0" bIns="0" rtlCol="0" anchor="t"/>
          <a:lstStyle/>
          <a:p>
            <a:pPr marL="0" indent="0" algn="ctr">
              <a:lnSpc>
                <a:spcPts val="2850"/>
              </a:lnSpc>
              <a:buNone/>
            </a:pPr>
            <a:r>
              <a:rPr lang="en-US" sz="1750" dirty="0">
                <a:solidFill>
                  <a:srgbClr val="E5E0DF"/>
                </a:solidFill>
                <a:latin typeface="Roboto Light" pitchFamily="34" charset="0"/>
                <a:ea typeface="Roboto Light" pitchFamily="34" charset="-122"/>
                <a:cs typeface="Roboto Light" pitchFamily="34" charset="-120"/>
              </a:rPr>
              <a:t>A grid search process was used to optimize the model hyperparameters, such as tree depth and minimum samples per split, for improved performance.</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984177"/>
            <a:ext cx="8239363"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How Models Make Predictions</a:t>
            </a:r>
            <a:endParaRPr lang="en-US" sz="4450" dirty="0"/>
          </a:p>
        </p:txBody>
      </p:sp>
      <p:pic>
        <p:nvPicPr>
          <p:cNvPr id="3" name="Image 0" descr="preencoded.png"/>
          <p:cNvPicPr>
            <a:picLocks noChangeAspect="1"/>
          </p:cNvPicPr>
          <p:nvPr/>
        </p:nvPicPr>
        <p:blipFill>
          <a:blip r:embed="rId3"/>
          <a:stretch>
            <a:fillRect/>
          </a:stretch>
        </p:blipFill>
        <p:spPr>
          <a:xfrm>
            <a:off x="793790" y="3146584"/>
            <a:ext cx="566976" cy="566976"/>
          </a:xfrm>
          <a:prstGeom prst="rect">
            <a:avLst/>
          </a:prstGeom>
        </p:spPr>
      </p:pic>
      <p:sp>
        <p:nvSpPr>
          <p:cNvPr id="4" name="Text 1"/>
          <p:cNvSpPr/>
          <p:nvPr/>
        </p:nvSpPr>
        <p:spPr>
          <a:xfrm>
            <a:off x="793790" y="3940373"/>
            <a:ext cx="324290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Model Input Processing</a:t>
            </a:r>
            <a:endParaRPr lang="en-US" sz="2200" dirty="0"/>
          </a:p>
        </p:txBody>
      </p:sp>
      <p:sp>
        <p:nvSpPr>
          <p:cNvPr id="5" name="Text 2"/>
          <p:cNvSpPr/>
          <p:nvPr/>
        </p:nvSpPr>
        <p:spPr>
          <a:xfrm>
            <a:off x="793790" y="4430792"/>
            <a:ext cx="4120753"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Each model takes a patient's data, like age, cholesterol levels, and chest pain type, and uses its specific algorithm to analyze the data.</a:t>
            </a:r>
            <a:endParaRPr lang="en-US" sz="1750" dirty="0"/>
          </a:p>
        </p:txBody>
      </p:sp>
      <p:pic>
        <p:nvPicPr>
          <p:cNvPr id="6" name="Image 1" descr="preencoded.png"/>
          <p:cNvPicPr>
            <a:picLocks noChangeAspect="1"/>
          </p:cNvPicPr>
          <p:nvPr/>
        </p:nvPicPr>
        <p:blipFill>
          <a:blip r:embed="rId4"/>
          <a:stretch>
            <a:fillRect/>
          </a:stretch>
        </p:blipFill>
        <p:spPr>
          <a:xfrm>
            <a:off x="5254704" y="3146584"/>
            <a:ext cx="566976" cy="566976"/>
          </a:xfrm>
          <a:prstGeom prst="rect">
            <a:avLst/>
          </a:prstGeom>
        </p:spPr>
      </p:pic>
      <p:sp>
        <p:nvSpPr>
          <p:cNvPr id="7" name="Text 3"/>
          <p:cNvSpPr/>
          <p:nvPr/>
        </p:nvSpPr>
        <p:spPr>
          <a:xfrm>
            <a:off x="5254704" y="3940373"/>
            <a:ext cx="308419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Prediction Calculation</a:t>
            </a:r>
            <a:endParaRPr lang="en-US" sz="2200" dirty="0"/>
          </a:p>
        </p:txBody>
      </p:sp>
      <p:sp>
        <p:nvSpPr>
          <p:cNvPr id="8" name="Text 4"/>
          <p:cNvSpPr/>
          <p:nvPr/>
        </p:nvSpPr>
        <p:spPr>
          <a:xfrm>
            <a:off x="5254704" y="4430792"/>
            <a:ext cx="4120872"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Based on the processed data, each model calculates a probability score, which represents the likelihood of heart disease for that patient.</a:t>
            </a:r>
            <a:endParaRPr lang="en-US" sz="1750" dirty="0"/>
          </a:p>
        </p:txBody>
      </p:sp>
      <p:pic>
        <p:nvPicPr>
          <p:cNvPr id="9" name="Image 2" descr="preencoded.png"/>
          <p:cNvPicPr>
            <a:picLocks noChangeAspect="1"/>
          </p:cNvPicPr>
          <p:nvPr/>
        </p:nvPicPr>
        <p:blipFill>
          <a:blip r:embed="rId5"/>
          <a:stretch>
            <a:fillRect/>
          </a:stretch>
        </p:blipFill>
        <p:spPr>
          <a:xfrm>
            <a:off x="9715738" y="3146584"/>
            <a:ext cx="566976" cy="566976"/>
          </a:xfrm>
          <a:prstGeom prst="rect">
            <a:avLst/>
          </a:prstGeom>
        </p:spPr>
      </p:pic>
      <p:sp>
        <p:nvSpPr>
          <p:cNvPr id="10" name="Text 5"/>
          <p:cNvSpPr/>
          <p:nvPr/>
        </p:nvSpPr>
        <p:spPr>
          <a:xfrm>
            <a:off x="9715738" y="3940373"/>
            <a:ext cx="3316010"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Outcome Interpretation</a:t>
            </a:r>
            <a:endParaRPr lang="en-US" sz="2200" dirty="0"/>
          </a:p>
        </p:txBody>
      </p:sp>
      <p:sp>
        <p:nvSpPr>
          <p:cNvPr id="11" name="Text 6"/>
          <p:cNvSpPr/>
          <p:nvPr/>
        </p:nvSpPr>
        <p:spPr>
          <a:xfrm>
            <a:off x="9715738" y="4430792"/>
            <a:ext cx="4120753"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The probability score is then translated into a prediction of either 'high risk' or 'low risk' based on a defined threshold, helping doctors understand the patient's risk level.</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228249"/>
            <a:ext cx="11558468"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Results - Performance Comparison Table</a:t>
            </a:r>
            <a:endParaRPr lang="en-US" sz="4450" dirty="0"/>
          </a:p>
        </p:txBody>
      </p:sp>
      <p:sp>
        <p:nvSpPr>
          <p:cNvPr id="3" name="Shape 1"/>
          <p:cNvSpPr/>
          <p:nvPr/>
        </p:nvSpPr>
        <p:spPr>
          <a:xfrm>
            <a:off x="793790" y="2390656"/>
            <a:ext cx="13042821" cy="3629739"/>
          </a:xfrm>
          <a:prstGeom prst="roundRect">
            <a:avLst>
              <a:gd name="adj" fmla="val 2625"/>
            </a:avLst>
          </a:prstGeom>
          <a:noFill/>
          <a:ln w="7620">
            <a:solidFill>
              <a:srgbClr val="FFFFFF">
                <a:alpha val="24000"/>
              </a:srgbClr>
            </a:solidFill>
            <a:prstDash val="solid"/>
          </a:ln>
        </p:spPr>
      </p:sp>
      <p:sp>
        <p:nvSpPr>
          <p:cNvPr id="4" name="Shape 2"/>
          <p:cNvSpPr/>
          <p:nvPr/>
        </p:nvSpPr>
        <p:spPr>
          <a:xfrm>
            <a:off x="801410" y="2398276"/>
            <a:ext cx="13030081" cy="650319"/>
          </a:xfrm>
          <a:prstGeom prst="rect">
            <a:avLst/>
          </a:prstGeom>
          <a:solidFill>
            <a:srgbClr val="FFFFFF">
              <a:alpha val="4000"/>
            </a:srgbClr>
          </a:solidFill>
          <a:ln/>
        </p:spPr>
      </p:sp>
      <p:sp>
        <p:nvSpPr>
          <p:cNvPr id="5" name="Text 3"/>
          <p:cNvSpPr/>
          <p:nvPr/>
        </p:nvSpPr>
        <p:spPr>
          <a:xfrm>
            <a:off x="1028819" y="2541984"/>
            <a:ext cx="1714143" cy="362903"/>
          </a:xfrm>
          <a:prstGeom prst="rect">
            <a:avLst/>
          </a:prstGeom>
          <a:noFill/>
          <a:ln/>
        </p:spPr>
        <p:txBody>
          <a:bodyPr wrap="non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Model</a:t>
            </a:r>
            <a:endParaRPr lang="en-US" sz="1750" dirty="0"/>
          </a:p>
        </p:txBody>
      </p:sp>
      <p:sp>
        <p:nvSpPr>
          <p:cNvPr id="6" name="Text 4"/>
          <p:cNvSpPr/>
          <p:nvPr/>
        </p:nvSpPr>
        <p:spPr>
          <a:xfrm>
            <a:off x="3204210" y="2541984"/>
            <a:ext cx="1710333" cy="362903"/>
          </a:xfrm>
          <a:prstGeom prst="rect">
            <a:avLst/>
          </a:prstGeom>
          <a:noFill/>
          <a:ln/>
        </p:spPr>
        <p:txBody>
          <a:bodyPr wrap="non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Accuracy</a:t>
            </a:r>
            <a:endParaRPr lang="en-US" sz="1750" dirty="0"/>
          </a:p>
        </p:txBody>
      </p:sp>
      <p:sp>
        <p:nvSpPr>
          <p:cNvPr id="7" name="Text 5"/>
          <p:cNvSpPr/>
          <p:nvPr/>
        </p:nvSpPr>
        <p:spPr>
          <a:xfrm>
            <a:off x="5375791" y="2541984"/>
            <a:ext cx="1710333" cy="362903"/>
          </a:xfrm>
          <a:prstGeom prst="rect">
            <a:avLst/>
          </a:prstGeom>
          <a:noFill/>
          <a:ln/>
        </p:spPr>
        <p:txBody>
          <a:bodyPr wrap="non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Precision</a:t>
            </a:r>
            <a:endParaRPr lang="en-US" sz="1750" dirty="0"/>
          </a:p>
        </p:txBody>
      </p:sp>
      <p:sp>
        <p:nvSpPr>
          <p:cNvPr id="8" name="Text 6"/>
          <p:cNvSpPr/>
          <p:nvPr/>
        </p:nvSpPr>
        <p:spPr>
          <a:xfrm>
            <a:off x="7547372" y="2541984"/>
            <a:ext cx="1710333" cy="362903"/>
          </a:xfrm>
          <a:prstGeom prst="rect">
            <a:avLst/>
          </a:prstGeom>
          <a:noFill/>
          <a:ln/>
        </p:spPr>
        <p:txBody>
          <a:bodyPr wrap="non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Recall</a:t>
            </a:r>
            <a:endParaRPr lang="en-US" sz="1750" dirty="0"/>
          </a:p>
        </p:txBody>
      </p:sp>
      <p:sp>
        <p:nvSpPr>
          <p:cNvPr id="9" name="Text 7"/>
          <p:cNvSpPr/>
          <p:nvPr/>
        </p:nvSpPr>
        <p:spPr>
          <a:xfrm>
            <a:off x="9718953" y="2541984"/>
            <a:ext cx="1710333" cy="362903"/>
          </a:xfrm>
          <a:prstGeom prst="rect">
            <a:avLst/>
          </a:prstGeom>
          <a:noFill/>
          <a:ln/>
        </p:spPr>
        <p:txBody>
          <a:bodyPr wrap="non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F1 Score</a:t>
            </a:r>
            <a:endParaRPr lang="en-US" sz="1750" dirty="0"/>
          </a:p>
        </p:txBody>
      </p:sp>
      <p:sp>
        <p:nvSpPr>
          <p:cNvPr id="10" name="Text 8"/>
          <p:cNvSpPr/>
          <p:nvPr/>
        </p:nvSpPr>
        <p:spPr>
          <a:xfrm>
            <a:off x="11890534" y="2541984"/>
            <a:ext cx="1714143" cy="362903"/>
          </a:xfrm>
          <a:prstGeom prst="rect">
            <a:avLst/>
          </a:prstGeom>
          <a:noFill/>
          <a:ln/>
        </p:spPr>
        <p:txBody>
          <a:bodyPr wrap="non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AUC</a:t>
            </a:r>
            <a:endParaRPr lang="en-US" sz="1750" dirty="0"/>
          </a:p>
        </p:txBody>
      </p:sp>
      <p:sp>
        <p:nvSpPr>
          <p:cNvPr id="11" name="Shape 9"/>
          <p:cNvSpPr/>
          <p:nvPr/>
        </p:nvSpPr>
        <p:spPr>
          <a:xfrm>
            <a:off x="801410" y="3048595"/>
            <a:ext cx="13030081" cy="650319"/>
          </a:xfrm>
          <a:prstGeom prst="rect">
            <a:avLst/>
          </a:prstGeom>
          <a:solidFill>
            <a:srgbClr val="000000">
              <a:alpha val="4000"/>
            </a:srgbClr>
          </a:solidFill>
          <a:ln/>
        </p:spPr>
      </p:sp>
      <p:sp>
        <p:nvSpPr>
          <p:cNvPr id="12" name="Text 10"/>
          <p:cNvSpPr/>
          <p:nvPr/>
        </p:nvSpPr>
        <p:spPr>
          <a:xfrm>
            <a:off x="1028819" y="3192304"/>
            <a:ext cx="171414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Decision Tree</a:t>
            </a:r>
            <a:endParaRPr lang="en-US" sz="1750" dirty="0"/>
          </a:p>
        </p:txBody>
      </p:sp>
      <p:sp>
        <p:nvSpPr>
          <p:cNvPr id="13" name="Text 11"/>
          <p:cNvSpPr/>
          <p:nvPr/>
        </p:nvSpPr>
        <p:spPr>
          <a:xfrm>
            <a:off x="3204210" y="3192304"/>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97%</a:t>
            </a:r>
            <a:endParaRPr lang="en-US" sz="1750" dirty="0"/>
          </a:p>
        </p:txBody>
      </p:sp>
      <p:sp>
        <p:nvSpPr>
          <p:cNvPr id="14" name="Text 12"/>
          <p:cNvSpPr/>
          <p:nvPr/>
        </p:nvSpPr>
        <p:spPr>
          <a:xfrm>
            <a:off x="5375791" y="3192304"/>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100%</a:t>
            </a:r>
            <a:endParaRPr lang="en-US" sz="1750" dirty="0"/>
          </a:p>
        </p:txBody>
      </p:sp>
      <p:sp>
        <p:nvSpPr>
          <p:cNvPr id="15" name="Text 13"/>
          <p:cNvSpPr/>
          <p:nvPr/>
        </p:nvSpPr>
        <p:spPr>
          <a:xfrm>
            <a:off x="7547372" y="3192304"/>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95%</a:t>
            </a:r>
            <a:endParaRPr lang="en-US" sz="1750" dirty="0"/>
          </a:p>
        </p:txBody>
      </p:sp>
      <p:sp>
        <p:nvSpPr>
          <p:cNvPr id="16" name="Text 14"/>
          <p:cNvSpPr/>
          <p:nvPr/>
        </p:nvSpPr>
        <p:spPr>
          <a:xfrm>
            <a:off x="9718953" y="3192304"/>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97%</a:t>
            </a:r>
            <a:endParaRPr lang="en-US" sz="1750" dirty="0"/>
          </a:p>
        </p:txBody>
      </p:sp>
      <p:sp>
        <p:nvSpPr>
          <p:cNvPr id="17" name="Text 15"/>
          <p:cNvSpPr/>
          <p:nvPr/>
        </p:nvSpPr>
        <p:spPr>
          <a:xfrm>
            <a:off x="11890534" y="3192304"/>
            <a:ext cx="171414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0.97</a:t>
            </a:r>
            <a:endParaRPr lang="en-US" sz="1750" dirty="0"/>
          </a:p>
        </p:txBody>
      </p:sp>
      <p:sp>
        <p:nvSpPr>
          <p:cNvPr id="18" name="Shape 16"/>
          <p:cNvSpPr/>
          <p:nvPr/>
        </p:nvSpPr>
        <p:spPr>
          <a:xfrm>
            <a:off x="801410" y="3698915"/>
            <a:ext cx="13030081" cy="650319"/>
          </a:xfrm>
          <a:prstGeom prst="rect">
            <a:avLst/>
          </a:prstGeom>
          <a:solidFill>
            <a:srgbClr val="FFFFFF">
              <a:alpha val="4000"/>
            </a:srgbClr>
          </a:solidFill>
          <a:ln/>
        </p:spPr>
      </p:sp>
      <p:sp>
        <p:nvSpPr>
          <p:cNvPr id="19" name="Text 17"/>
          <p:cNvSpPr/>
          <p:nvPr/>
        </p:nvSpPr>
        <p:spPr>
          <a:xfrm>
            <a:off x="1028819" y="3842623"/>
            <a:ext cx="171414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Random Forest</a:t>
            </a:r>
            <a:endParaRPr lang="en-US" sz="1750" dirty="0"/>
          </a:p>
        </p:txBody>
      </p:sp>
      <p:sp>
        <p:nvSpPr>
          <p:cNvPr id="20" name="Text 18"/>
          <p:cNvSpPr/>
          <p:nvPr/>
        </p:nvSpPr>
        <p:spPr>
          <a:xfrm>
            <a:off x="3204210" y="3842623"/>
            <a:ext cx="1710333" cy="362903"/>
          </a:xfrm>
          <a:prstGeom prst="rect">
            <a:avLst/>
          </a:prstGeom>
          <a:noFill/>
          <a:ln/>
        </p:spPr>
        <p:txBody>
          <a:bodyPr wrap="none" lIns="0" tIns="0" rIns="0" bIns="0" rtlCol="0" anchor="t"/>
          <a:lstStyle/>
          <a:p>
            <a:pPr marL="0" indent="0">
              <a:lnSpc>
                <a:spcPts val="2850"/>
              </a:lnSpc>
              <a:buNone/>
            </a:pPr>
            <a:r>
              <a:rPr lang="en-US" sz="1750" b="1" dirty="0">
                <a:solidFill>
                  <a:srgbClr val="E5E0DF"/>
                </a:solidFill>
                <a:latin typeface="Roboto Light" pitchFamily="34" charset="0"/>
                <a:ea typeface="Roboto Light" pitchFamily="34" charset="-122"/>
                <a:cs typeface="Roboto Light" pitchFamily="34" charset="-120"/>
              </a:rPr>
              <a:t>100%</a:t>
            </a:r>
            <a:endParaRPr lang="en-US" sz="1750" dirty="0"/>
          </a:p>
        </p:txBody>
      </p:sp>
      <p:sp>
        <p:nvSpPr>
          <p:cNvPr id="21" name="Text 19"/>
          <p:cNvSpPr/>
          <p:nvPr/>
        </p:nvSpPr>
        <p:spPr>
          <a:xfrm>
            <a:off x="5375791" y="3842623"/>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100%</a:t>
            </a:r>
            <a:endParaRPr lang="en-US" sz="1750" dirty="0"/>
          </a:p>
        </p:txBody>
      </p:sp>
      <p:sp>
        <p:nvSpPr>
          <p:cNvPr id="22" name="Text 20"/>
          <p:cNvSpPr/>
          <p:nvPr/>
        </p:nvSpPr>
        <p:spPr>
          <a:xfrm>
            <a:off x="7547372" y="3842623"/>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100%</a:t>
            </a:r>
            <a:endParaRPr lang="en-US" sz="1750" dirty="0"/>
          </a:p>
        </p:txBody>
      </p:sp>
      <p:sp>
        <p:nvSpPr>
          <p:cNvPr id="23" name="Text 21"/>
          <p:cNvSpPr/>
          <p:nvPr/>
        </p:nvSpPr>
        <p:spPr>
          <a:xfrm>
            <a:off x="9718953" y="3842623"/>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100%</a:t>
            </a:r>
            <a:endParaRPr lang="en-US" sz="1750" dirty="0"/>
          </a:p>
        </p:txBody>
      </p:sp>
      <p:sp>
        <p:nvSpPr>
          <p:cNvPr id="24" name="Text 22"/>
          <p:cNvSpPr/>
          <p:nvPr/>
        </p:nvSpPr>
        <p:spPr>
          <a:xfrm>
            <a:off x="11890534" y="3842623"/>
            <a:ext cx="171414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1.00</a:t>
            </a:r>
            <a:endParaRPr lang="en-US" sz="1750" dirty="0"/>
          </a:p>
        </p:txBody>
      </p:sp>
      <p:sp>
        <p:nvSpPr>
          <p:cNvPr id="25" name="Shape 23"/>
          <p:cNvSpPr/>
          <p:nvPr/>
        </p:nvSpPr>
        <p:spPr>
          <a:xfrm>
            <a:off x="801410" y="4349234"/>
            <a:ext cx="13030081" cy="1013222"/>
          </a:xfrm>
          <a:prstGeom prst="rect">
            <a:avLst/>
          </a:prstGeom>
          <a:solidFill>
            <a:srgbClr val="000000">
              <a:alpha val="4000"/>
            </a:srgbClr>
          </a:solidFill>
          <a:ln/>
        </p:spPr>
      </p:sp>
      <p:sp>
        <p:nvSpPr>
          <p:cNvPr id="26" name="Text 24"/>
          <p:cNvSpPr/>
          <p:nvPr/>
        </p:nvSpPr>
        <p:spPr>
          <a:xfrm>
            <a:off x="1028819" y="4492942"/>
            <a:ext cx="1714143"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Logistic Regression</a:t>
            </a:r>
            <a:endParaRPr lang="en-US" sz="1750" dirty="0"/>
          </a:p>
        </p:txBody>
      </p:sp>
      <p:sp>
        <p:nvSpPr>
          <p:cNvPr id="27" name="Text 25"/>
          <p:cNvSpPr/>
          <p:nvPr/>
        </p:nvSpPr>
        <p:spPr>
          <a:xfrm>
            <a:off x="3204210" y="4492942"/>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80%</a:t>
            </a:r>
            <a:endParaRPr lang="en-US" sz="1750" dirty="0"/>
          </a:p>
        </p:txBody>
      </p:sp>
      <p:sp>
        <p:nvSpPr>
          <p:cNvPr id="28" name="Text 26"/>
          <p:cNvSpPr/>
          <p:nvPr/>
        </p:nvSpPr>
        <p:spPr>
          <a:xfrm>
            <a:off x="5375791" y="4492942"/>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76%</a:t>
            </a:r>
            <a:endParaRPr lang="en-US" sz="1750" dirty="0"/>
          </a:p>
        </p:txBody>
      </p:sp>
      <p:sp>
        <p:nvSpPr>
          <p:cNvPr id="29" name="Text 27"/>
          <p:cNvSpPr/>
          <p:nvPr/>
        </p:nvSpPr>
        <p:spPr>
          <a:xfrm>
            <a:off x="7547372" y="4492942"/>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86%</a:t>
            </a:r>
            <a:endParaRPr lang="en-US" sz="1750" dirty="0"/>
          </a:p>
        </p:txBody>
      </p:sp>
      <p:sp>
        <p:nvSpPr>
          <p:cNvPr id="30" name="Text 28"/>
          <p:cNvSpPr/>
          <p:nvPr/>
        </p:nvSpPr>
        <p:spPr>
          <a:xfrm>
            <a:off x="9718953" y="4492942"/>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81%</a:t>
            </a:r>
            <a:endParaRPr lang="en-US" sz="1750" dirty="0"/>
          </a:p>
        </p:txBody>
      </p:sp>
      <p:sp>
        <p:nvSpPr>
          <p:cNvPr id="31" name="Text 29"/>
          <p:cNvSpPr/>
          <p:nvPr/>
        </p:nvSpPr>
        <p:spPr>
          <a:xfrm>
            <a:off x="11890534" y="4492942"/>
            <a:ext cx="171414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0.88</a:t>
            </a:r>
            <a:endParaRPr lang="en-US" sz="1750" dirty="0"/>
          </a:p>
        </p:txBody>
      </p:sp>
      <p:sp>
        <p:nvSpPr>
          <p:cNvPr id="32" name="Shape 30"/>
          <p:cNvSpPr/>
          <p:nvPr/>
        </p:nvSpPr>
        <p:spPr>
          <a:xfrm>
            <a:off x="801410" y="5362456"/>
            <a:ext cx="13030081" cy="650319"/>
          </a:xfrm>
          <a:prstGeom prst="rect">
            <a:avLst/>
          </a:prstGeom>
          <a:solidFill>
            <a:srgbClr val="FFFFFF">
              <a:alpha val="4000"/>
            </a:srgbClr>
          </a:solidFill>
          <a:ln/>
        </p:spPr>
      </p:sp>
      <p:sp>
        <p:nvSpPr>
          <p:cNvPr id="33" name="Text 31"/>
          <p:cNvSpPr/>
          <p:nvPr/>
        </p:nvSpPr>
        <p:spPr>
          <a:xfrm>
            <a:off x="1028819" y="5506164"/>
            <a:ext cx="171414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KNN</a:t>
            </a:r>
            <a:endParaRPr lang="en-US" sz="1750" dirty="0"/>
          </a:p>
        </p:txBody>
      </p:sp>
      <p:sp>
        <p:nvSpPr>
          <p:cNvPr id="34" name="Text 32"/>
          <p:cNvSpPr/>
          <p:nvPr/>
        </p:nvSpPr>
        <p:spPr>
          <a:xfrm>
            <a:off x="3204210" y="5506164"/>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71%</a:t>
            </a:r>
            <a:endParaRPr lang="en-US" sz="1750" dirty="0"/>
          </a:p>
        </p:txBody>
      </p:sp>
      <p:sp>
        <p:nvSpPr>
          <p:cNvPr id="35" name="Text 33"/>
          <p:cNvSpPr/>
          <p:nvPr/>
        </p:nvSpPr>
        <p:spPr>
          <a:xfrm>
            <a:off x="5375791" y="5506164"/>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71%</a:t>
            </a:r>
            <a:endParaRPr lang="en-US" sz="1750" dirty="0"/>
          </a:p>
        </p:txBody>
      </p:sp>
      <p:sp>
        <p:nvSpPr>
          <p:cNvPr id="36" name="Text 34"/>
          <p:cNvSpPr/>
          <p:nvPr/>
        </p:nvSpPr>
        <p:spPr>
          <a:xfrm>
            <a:off x="7547372" y="5506164"/>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71%</a:t>
            </a:r>
            <a:endParaRPr lang="en-US" sz="1750" dirty="0"/>
          </a:p>
        </p:txBody>
      </p:sp>
      <p:sp>
        <p:nvSpPr>
          <p:cNvPr id="37" name="Text 35"/>
          <p:cNvSpPr/>
          <p:nvPr/>
        </p:nvSpPr>
        <p:spPr>
          <a:xfrm>
            <a:off x="9718953" y="5506164"/>
            <a:ext cx="171033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71%</a:t>
            </a:r>
            <a:endParaRPr lang="en-US" sz="1750" dirty="0"/>
          </a:p>
        </p:txBody>
      </p:sp>
      <p:sp>
        <p:nvSpPr>
          <p:cNvPr id="38" name="Text 36"/>
          <p:cNvSpPr/>
          <p:nvPr/>
        </p:nvSpPr>
        <p:spPr>
          <a:xfrm>
            <a:off x="11890534" y="5506164"/>
            <a:ext cx="171414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0.84</a:t>
            </a:r>
            <a:endParaRPr lang="en-US" sz="1750" dirty="0"/>
          </a:p>
        </p:txBody>
      </p:sp>
      <p:sp>
        <p:nvSpPr>
          <p:cNvPr id="39" name="Text 37"/>
          <p:cNvSpPr/>
          <p:nvPr/>
        </p:nvSpPr>
        <p:spPr>
          <a:xfrm>
            <a:off x="793790" y="6275546"/>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The Random Forest model achieved the highest accuracy at 100%, making it the best performing model for predicting heart disease risk based on the provided medical data.</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6486" y="567690"/>
            <a:ext cx="5315069" cy="407551"/>
          </a:xfrm>
          <a:prstGeom prst="rect">
            <a:avLst/>
          </a:prstGeom>
          <a:noFill/>
          <a:ln/>
        </p:spPr>
        <p:txBody>
          <a:bodyPr wrap="none" lIns="0" tIns="0" rIns="0" bIns="0" rtlCol="0" anchor="t"/>
          <a:lstStyle/>
          <a:p>
            <a:pPr marL="0" indent="0">
              <a:lnSpc>
                <a:spcPts val="3200"/>
              </a:lnSpc>
              <a:buNone/>
            </a:pPr>
            <a:r>
              <a:rPr lang="en-US" sz="2550" dirty="0">
                <a:solidFill>
                  <a:srgbClr val="F2F2F3"/>
                </a:solidFill>
                <a:latin typeface="Poppins Light" pitchFamily="34" charset="0"/>
                <a:ea typeface="Poppins Light" pitchFamily="34" charset="-122"/>
                <a:cs typeface="Poppins Light" pitchFamily="34" charset="-120"/>
              </a:rPr>
              <a:t>Results - ROC Curve Comparison</a:t>
            </a:r>
            <a:endParaRPr lang="en-US" sz="2550" dirty="0"/>
          </a:p>
        </p:txBody>
      </p:sp>
      <p:sp>
        <p:nvSpPr>
          <p:cNvPr id="3" name="Text 1"/>
          <p:cNvSpPr/>
          <p:nvPr/>
        </p:nvSpPr>
        <p:spPr>
          <a:xfrm>
            <a:off x="456486" y="1236107"/>
            <a:ext cx="13717429" cy="208717"/>
          </a:xfrm>
          <a:prstGeom prst="rect">
            <a:avLst/>
          </a:prstGeom>
          <a:noFill/>
          <a:ln/>
        </p:spPr>
        <p:txBody>
          <a:bodyPr wrap="none" lIns="0" tIns="0" rIns="0" bIns="0" rtlCol="0" anchor="t"/>
          <a:lstStyle/>
          <a:p>
            <a:pPr marL="0" indent="0">
              <a:lnSpc>
                <a:spcPts val="1600"/>
              </a:lnSpc>
              <a:buNone/>
            </a:pPr>
            <a:r>
              <a:rPr lang="en-US" sz="1000" dirty="0">
                <a:solidFill>
                  <a:srgbClr val="E5E0DF"/>
                </a:solidFill>
                <a:latin typeface="Roboto Light" pitchFamily="34" charset="0"/>
                <a:ea typeface="Roboto Light" pitchFamily="34" charset="-122"/>
                <a:cs typeface="Roboto Light" pitchFamily="34" charset="-120"/>
              </a:rPr>
              <a:t>The ROC (Receiver Operating Characteristic) curves provide a visual comparison of the true positive rate and false positive rate for each machine learning model used to predict heart disease risk.</a:t>
            </a:r>
            <a:endParaRPr lang="en-US" sz="1000" dirty="0"/>
          </a:p>
        </p:txBody>
      </p:sp>
      <p:pic>
        <p:nvPicPr>
          <p:cNvPr id="4" name="Image 0" descr="preencoded.png"/>
          <p:cNvPicPr>
            <a:picLocks noChangeAspect="1"/>
          </p:cNvPicPr>
          <p:nvPr/>
        </p:nvPicPr>
        <p:blipFill>
          <a:blip r:embed="rId3"/>
          <a:stretch>
            <a:fillRect/>
          </a:stretch>
        </p:blipFill>
        <p:spPr>
          <a:xfrm>
            <a:off x="456486" y="1591508"/>
            <a:ext cx="6897172" cy="5715000"/>
          </a:xfrm>
          <a:prstGeom prst="rect">
            <a:avLst/>
          </a:prstGeom>
        </p:spPr>
      </p:pic>
      <p:sp>
        <p:nvSpPr>
          <p:cNvPr id="5" name="Text 2"/>
          <p:cNvSpPr/>
          <p:nvPr/>
        </p:nvSpPr>
        <p:spPr>
          <a:xfrm>
            <a:off x="456486" y="7453193"/>
            <a:ext cx="13717429" cy="208717"/>
          </a:xfrm>
          <a:prstGeom prst="rect">
            <a:avLst/>
          </a:prstGeom>
          <a:noFill/>
          <a:ln/>
        </p:spPr>
        <p:txBody>
          <a:bodyPr wrap="none" lIns="0" tIns="0" rIns="0" bIns="0" rtlCol="0" anchor="t"/>
          <a:lstStyle/>
          <a:p>
            <a:pPr marL="0" indent="0">
              <a:lnSpc>
                <a:spcPts val="1600"/>
              </a:lnSpc>
              <a:buNone/>
            </a:pPr>
            <a:r>
              <a:rPr lang="en-US" sz="1000" dirty="0">
                <a:solidFill>
                  <a:srgbClr val="E5E0DF"/>
                </a:solidFill>
                <a:latin typeface="Roboto Light" pitchFamily="34" charset="0"/>
                <a:ea typeface="Roboto Light" pitchFamily="34" charset="-122"/>
                <a:cs typeface="Roboto Light" pitchFamily="34" charset="-120"/>
              </a:rPr>
              <a:t>The area under the ROC curve (AUC) measures the overall accuracy of the model, with a higher AUC indicating better performance. The Random Forest model has the highest AUC, making it the most reliable for heart disease prediction.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80812" y="614005"/>
            <a:ext cx="6956107" cy="697230"/>
          </a:xfrm>
          <a:prstGeom prst="rect">
            <a:avLst/>
          </a:prstGeom>
          <a:noFill/>
          <a:ln/>
        </p:spPr>
        <p:txBody>
          <a:bodyPr wrap="none" lIns="0" tIns="0" rIns="0" bIns="0" rtlCol="0" anchor="t"/>
          <a:lstStyle/>
          <a:p>
            <a:pPr marL="0" indent="0">
              <a:lnSpc>
                <a:spcPts val="5450"/>
              </a:lnSpc>
              <a:buNone/>
            </a:pPr>
            <a:r>
              <a:rPr lang="en-US" sz="4350" dirty="0">
                <a:solidFill>
                  <a:srgbClr val="F2F2F3"/>
                </a:solidFill>
                <a:latin typeface="Poppins Light" pitchFamily="34" charset="0"/>
                <a:ea typeface="Poppins Light" pitchFamily="34" charset="-122"/>
                <a:cs typeface="Poppins Light" pitchFamily="34" charset="-120"/>
              </a:rPr>
              <a:t>Confusion Matrix Analysis</a:t>
            </a:r>
            <a:endParaRPr lang="en-US" sz="4350" dirty="0"/>
          </a:p>
        </p:txBody>
      </p:sp>
      <p:sp>
        <p:nvSpPr>
          <p:cNvPr id="3" name="Text 1"/>
          <p:cNvSpPr/>
          <p:nvPr/>
        </p:nvSpPr>
        <p:spPr>
          <a:xfrm>
            <a:off x="780812" y="1757363"/>
            <a:ext cx="13068776" cy="713899"/>
          </a:xfrm>
          <a:prstGeom prst="rect">
            <a:avLst/>
          </a:prstGeom>
          <a:noFill/>
          <a:ln/>
        </p:spPr>
        <p:txBody>
          <a:bodyPr wrap="squar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The confusion matrix provides a detailed breakdown of the model's performance, highlighting the true positives, false positives, true negatives, and false negatives.</a:t>
            </a:r>
            <a:endParaRPr lang="en-US" sz="1750" dirty="0"/>
          </a:p>
        </p:txBody>
      </p:sp>
      <p:sp>
        <p:nvSpPr>
          <p:cNvPr id="4" name="Shape 2"/>
          <p:cNvSpPr/>
          <p:nvPr/>
        </p:nvSpPr>
        <p:spPr>
          <a:xfrm>
            <a:off x="780812" y="2722245"/>
            <a:ext cx="13068776" cy="3928348"/>
          </a:xfrm>
          <a:prstGeom prst="roundRect">
            <a:avLst>
              <a:gd name="adj" fmla="val 2385"/>
            </a:avLst>
          </a:prstGeom>
          <a:noFill/>
          <a:ln w="7620">
            <a:solidFill>
              <a:srgbClr val="FFFFFF">
                <a:alpha val="24000"/>
              </a:srgbClr>
            </a:solidFill>
            <a:prstDash val="solid"/>
          </a:ln>
        </p:spPr>
      </p:sp>
      <p:sp>
        <p:nvSpPr>
          <p:cNvPr id="5" name="Shape 3"/>
          <p:cNvSpPr/>
          <p:nvPr/>
        </p:nvSpPr>
        <p:spPr>
          <a:xfrm>
            <a:off x="788432" y="2729865"/>
            <a:ext cx="13053536" cy="639842"/>
          </a:xfrm>
          <a:prstGeom prst="rect">
            <a:avLst/>
          </a:prstGeom>
          <a:solidFill>
            <a:srgbClr val="FFFFFF">
              <a:alpha val="4000"/>
            </a:srgbClr>
          </a:solidFill>
          <a:ln/>
        </p:spPr>
      </p:sp>
      <p:sp>
        <p:nvSpPr>
          <p:cNvPr id="6" name="Text 4"/>
          <p:cNvSpPr/>
          <p:nvPr/>
        </p:nvSpPr>
        <p:spPr>
          <a:xfrm>
            <a:off x="1011436" y="2871311"/>
            <a:ext cx="6076950" cy="356949"/>
          </a:xfrm>
          <a:prstGeom prst="rect">
            <a:avLst/>
          </a:prstGeom>
          <a:noFill/>
          <a:ln/>
        </p:spPr>
        <p:txBody>
          <a:bodyPr wrap="non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Metric</a:t>
            </a:r>
            <a:endParaRPr lang="en-US" sz="1750" dirty="0"/>
          </a:p>
        </p:txBody>
      </p:sp>
      <p:sp>
        <p:nvSpPr>
          <p:cNvPr id="7" name="Text 5"/>
          <p:cNvSpPr/>
          <p:nvPr/>
        </p:nvSpPr>
        <p:spPr>
          <a:xfrm>
            <a:off x="7542014" y="2871311"/>
            <a:ext cx="6076950" cy="356949"/>
          </a:xfrm>
          <a:prstGeom prst="rect">
            <a:avLst/>
          </a:prstGeom>
          <a:noFill/>
          <a:ln/>
        </p:spPr>
        <p:txBody>
          <a:bodyPr wrap="non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Value</a:t>
            </a:r>
            <a:endParaRPr lang="en-US" sz="1750" dirty="0"/>
          </a:p>
        </p:txBody>
      </p:sp>
      <p:sp>
        <p:nvSpPr>
          <p:cNvPr id="8" name="Shape 6"/>
          <p:cNvSpPr/>
          <p:nvPr/>
        </p:nvSpPr>
        <p:spPr>
          <a:xfrm>
            <a:off x="788432" y="3369707"/>
            <a:ext cx="13053536" cy="639842"/>
          </a:xfrm>
          <a:prstGeom prst="rect">
            <a:avLst/>
          </a:prstGeom>
          <a:solidFill>
            <a:srgbClr val="000000">
              <a:alpha val="4000"/>
            </a:srgbClr>
          </a:solidFill>
          <a:ln/>
        </p:spPr>
      </p:sp>
      <p:sp>
        <p:nvSpPr>
          <p:cNvPr id="9" name="Text 7"/>
          <p:cNvSpPr/>
          <p:nvPr/>
        </p:nvSpPr>
        <p:spPr>
          <a:xfrm>
            <a:off x="1011436" y="3511153"/>
            <a:ext cx="6076950" cy="356949"/>
          </a:xfrm>
          <a:prstGeom prst="rect">
            <a:avLst/>
          </a:prstGeom>
          <a:noFill/>
          <a:ln/>
        </p:spPr>
        <p:txBody>
          <a:bodyPr wrap="non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True Positives</a:t>
            </a:r>
            <a:endParaRPr lang="en-US" sz="1750" dirty="0"/>
          </a:p>
        </p:txBody>
      </p:sp>
      <p:sp>
        <p:nvSpPr>
          <p:cNvPr id="10" name="Text 8"/>
          <p:cNvSpPr/>
          <p:nvPr/>
        </p:nvSpPr>
        <p:spPr>
          <a:xfrm>
            <a:off x="7542014" y="3511153"/>
            <a:ext cx="6076950" cy="356949"/>
          </a:xfrm>
          <a:prstGeom prst="rect">
            <a:avLst/>
          </a:prstGeom>
          <a:noFill/>
          <a:ln/>
        </p:spPr>
        <p:txBody>
          <a:bodyPr wrap="non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Patients correctly identified as high-risk for heart disease.</a:t>
            </a:r>
            <a:endParaRPr lang="en-US" sz="1750" dirty="0"/>
          </a:p>
        </p:txBody>
      </p:sp>
      <p:sp>
        <p:nvSpPr>
          <p:cNvPr id="11" name="Shape 9"/>
          <p:cNvSpPr/>
          <p:nvPr/>
        </p:nvSpPr>
        <p:spPr>
          <a:xfrm>
            <a:off x="788432" y="4009549"/>
            <a:ext cx="13053536" cy="996791"/>
          </a:xfrm>
          <a:prstGeom prst="rect">
            <a:avLst/>
          </a:prstGeom>
          <a:solidFill>
            <a:srgbClr val="FFFFFF">
              <a:alpha val="4000"/>
            </a:srgbClr>
          </a:solidFill>
          <a:ln/>
        </p:spPr>
      </p:sp>
      <p:sp>
        <p:nvSpPr>
          <p:cNvPr id="12" name="Text 10"/>
          <p:cNvSpPr/>
          <p:nvPr/>
        </p:nvSpPr>
        <p:spPr>
          <a:xfrm>
            <a:off x="1011436" y="4150995"/>
            <a:ext cx="6076950" cy="356949"/>
          </a:xfrm>
          <a:prstGeom prst="rect">
            <a:avLst/>
          </a:prstGeom>
          <a:noFill/>
          <a:ln/>
        </p:spPr>
        <p:txBody>
          <a:bodyPr wrap="non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False Positives</a:t>
            </a:r>
            <a:endParaRPr lang="en-US" sz="1750" dirty="0"/>
          </a:p>
        </p:txBody>
      </p:sp>
      <p:sp>
        <p:nvSpPr>
          <p:cNvPr id="13" name="Text 11"/>
          <p:cNvSpPr/>
          <p:nvPr/>
        </p:nvSpPr>
        <p:spPr>
          <a:xfrm>
            <a:off x="7542014" y="4150995"/>
            <a:ext cx="6076950" cy="713899"/>
          </a:xfrm>
          <a:prstGeom prst="rect">
            <a:avLst/>
          </a:prstGeom>
          <a:noFill/>
          <a:ln/>
        </p:spPr>
        <p:txBody>
          <a:bodyPr wrap="squar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Patients incorrectly identified as high-risk, when they are actually low-risk.</a:t>
            </a:r>
            <a:endParaRPr lang="en-US" sz="1750" dirty="0"/>
          </a:p>
        </p:txBody>
      </p:sp>
      <p:sp>
        <p:nvSpPr>
          <p:cNvPr id="14" name="Shape 12"/>
          <p:cNvSpPr/>
          <p:nvPr/>
        </p:nvSpPr>
        <p:spPr>
          <a:xfrm>
            <a:off x="788432" y="5006340"/>
            <a:ext cx="13053536" cy="639842"/>
          </a:xfrm>
          <a:prstGeom prst="rect">
            <a:avLst/>
          </a:prstGeom>
          <a:solidFill>
            <a:srgbClr val="000000">
              <a:alpha val="4000"/>
            </a:srgbClr>
          </a:solidFill>
          <a:ln/>
        </p:spPr>
      </p:sp>
      <p:sp>
        <p:nvSpPr>
          <p:cNvPr id="15" name="Text 13"/>
          <p:cNvSpPr/>
          <p:nvPr/>
        </p:nvSpPr>
        <p:spPr>
          <a:xfrm>
            <a:off x="1011436" y="5147786"/>
            <a:ext cx="6076950" cy="356949"/>
          </a:xfrm>
          <a:prstGeom prst="rect">
            <a:avLst/>
          </a:prstGeom>
          <a:noFill/>
          <a:ln/>
        </p:spPr>
        <p:txBody>
          <a:bodyPr wrap="non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True Negatives</a:t>
            </a:r>
            <a:endParaRPr lang="en-US" sz="1750" dirty="0"/>
          </a:p>
        </p:txBody>
      </p:sp>
      <p:sp>
        <p:nvSpPr>
          <p:cNvPr id="16" name="Text 14"/>
          <p:cNvSpPr/>
          <p:nvPr/>
        </p:nvSpPr>
        <p:spPr>
          <a:xfrm>
            <a:off x="7542014" y="5147786"/>
            <a:ext cx="6076950" cy="356949"/>
          </a:xfrm>
          <a:prstGeom prst="rect">
            <a:avLst/>
          </a:prstGeom>
          <a:noFill/>
          <a:ln/>
        </p:spPr>
        <p:txBody>
          <a:bodyPr wrap="non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Patients correctly identified as low-risk for heart disease.</a:t>
            </a:r>
            <a:endParaRPr lang="en-US" sz="1750" dirty="0"/>
          </a:p>
        </p:txBody>
      </p:sp>
      <p:sp>
        <p:nvSpPr>
          <p:cNvPr id="17" name="Shape 15"/>
          <p:cNvSpPr/>
          <p:nvPr/>
        </p:nvSpPr>
        <p:spPr>
          <a:xfrm>
            <a:off x="788432" y="5646182"/>
            <a:ext cx="13053536" cy="996791"/>
          </a:xfrm>
          <a:prstGeom prst="rect">
            <a:avLst/>
          </a:prstGeom>
          <a:solidFill>
            <a:srgbClr val="FFFFFF">
              <a:alpha val="4000"/>
            </a:srgbClr>
          </a:solidFill>
          <a:ln/>
        </p:spPr>
      </p:sp>
      <p:sp>
        <p:nvSpPr>
          <p:cNvPr id="18" name="Text 16"/>
          <p:cNvSpPr/>
          <p:nvPr/>
        </p:nvSpPr>
        <p:spPr>
          <a:xfrm>
            <a:off x="1011436" y="5787628"/>
            <a:ext cx="6076950" cy="356949"/>
          </a:xfrm>
          <a:prstGeom prst="rect">
            <a:avLst/>
          </a:prstGeom>
          <a:noFill/>
          <a:ln/>
        </p:spPr>
        <p:txBody>
          <a:bodyPr wrap="non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False Negatives</a:t>
            </a:r>
            <a:endParaRPr lang="en-US" sz="1750" dirty="0"/>
          </a:p>
        </p:txBody>
      </p:sp>
      <p:sp>
        <p:nvSpPr>
          <p:cNvPr id="19" name="Text 17"/>
          <p:cNvSpPr/>
          <p:nvPr/>
        </p:nvSpPr>
        <p:spPr>
          <a:xfrm>
            <a:off x="7542014" y="5787628"/>
            <a:ext cx="6076950" cy="713899"/>
          </a:xfrm>
          <a:prstGeom prst="rect">
            <a:avLst/>
          </a:prstGeom>
          <a:noFill/>
          <a:ln/>
        </p:spPr>
        <p:txBody>
          <a:bodyPr wrap="squar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Patients incorrectly identified as low-risk, when they are actually high-risk.</a:t>
            </a:r>
            <a:endParaRPr lang="en-US" sz="1750" dirty="0"/>
          </a:p>
        </p:txBody>
      </p:sp>
      <p:sp>
        <p:nvSpPr>
          <p:cNvPr id="20" name="Text 18"/>
          <p:cNvSpPr/>
          <p:nvPr/>
        </p:nvSpPr>
        <p:spPr>
          <a:xfrm>
            <a:off x="780812" y="6901577"/>
            <a:ext cx="13068776" cy="713899"/>
          </a:xfrm>
          <a:prstGeom prst="rect">
            <a:avLst/>
          </a:prstGeom>
          <a:noFill/>
          <a:ln/>
        </p:spPr>
        <p:txBody>
          <a:bodyPr wrap="square" lIns="0" tIns="0" rIns="0" bIns="0" rtlCol="0" anchor="t"/>
          <a:lstStyle/>
          <a:p>
            <a:pPr marL="0" indent="0">
              <a:lnSpc>
                <a:spcPts val="2800"/>
              </a:lnSpc>
              <a:buNone/>
            </a:pPr>
            <a:r>
              <a:rPr lang="en-US" sz="1750" dirty="0">
                <a:solidFill>
                  <a:srgbClr val="E5E0DF"/>
                </a:solidFill>
                <a:latin typeface="Roboto Light" pitchFamily="34" charset="0"/>
                <a:ea typeface="Roboto Light" pitchFamily="34" charset="-122"/>
                <a:cs typeface="Roboto Light" pitchFamily="34" charset="-120"/>
              </a:rPr>
              <a:t>The confusion matrix analysis provides valuable insights into the model's strengths and weaknesses, allowing for targeted improvements to enhance the accuracy of heart disease predictions.</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55665" y="436959"/>
            <a:ext cx="3969544" cy="496133"/>
          </a:xfrm>
          <a:prstGeom prst="rect">
            <a:avLst/>
          </a:prstGeom>
          <a:noFill/>
          <a:ln/>
        </p:spPr>
        <p:txBody>
          <a:bodyPr wrap="none" lIns="0" tIns="0" rIns="0" bIns="0" rtlCol="0" anchor="t"/>
          <a:lstStyle/>
          <a:p>
            <a:pPr marL="0" indent="0">
              <a:lnSpc>
                <a:spcPts val="3900"/>
              </a:lnSpc>
              <a:buNone/>
            </a:pPr>
            <a:r>
              <a:rPr lang="en-US" sz="3100" dirty="0">
                <a:solidFill>
                  <a:srgbClr val="F2F2F3"/>
                </a:solidFill>
                <a:latin typeface="Poppins Light" pitchFamily="34" charset="0"/>
                <a:ea typeface="Poppins Light" pitchFamily="34" charset="-122"/>
                <a:cs typeface="Poppins Light" pitchFamily="34" charset="-120"/>
              </a:rPr>
              <a:t>Feature Importance</a:t>
            </a:r>
            <a:endParaRPr lang="en-US" sz="3100" dirty="0"/>
          </a:p>
        </p:txBody>
      </p:sp>
      <p:pic>
        <p:nvPicPr>
          <p:cNvPr id="3" name="Image 0" descr="preencoded.png"/>
          <p:cNvPicPr>
            <a:picLocks noChangeAspect="1"/>
          </p:cNvPicPr>
          <p:nvPr/>
        </p:nvPicPr>
        <p:blipFill>
          <a:blip r:embed="rId3"/>
          <a:stretch>
            <a:fillRect/>
          </a:stretch>
        </p:blipFill>
        <p:spPr>
          <a:xfrm>
            <a:off x="555665" y="1250633"/>
            <a:ext cx="9814798" cy="5855137"/>
          </a:xfrm>
          <a:prstGeom prst="rect">
            <a:avLst/>
          </a:prstGeom>
        </p:spPr>
      </p:pic>
      <p:sp>
        <p:nvSpPr>
          <p:cNvPr id="4" name="Text 1"/>
          <p:cNvSpPr/>
          <p:nvPr/>
        </p:nvSpPr>
        <p:spPr>
          <a:xfrm>
            <a:off x="555665" y="7284363"/>
            <a:ext cx="13519071" cy="508159"/>
          </a:xfrm>
          <a:prstGeom prst="rect">
            <a:avLst/>
          </a:prstGeom>
          <a:noFill/>
          <a:ln/>
        </p:spPr>
        <p:txBody>
          <a:bodyPr wrap="square" lIns="0" tIns="0" rIns="0" bIns="0" rtlCol="0" anchor="t"/>
          <a:lstStyle/>
          <a:p>
            <a:pPr marL="0" indent="0">
              <a:lnSpc>
                <a:spcPts val="2000"/>
              </a:lnSpc>
              <a:buNone/>
            </a:pPr>
            <a:r>
              <a:rPr lang="en-US" sz="1250" dirty="0">
                <a:solidFill>
                  <a:srgbClr val="E5E0DF"/>
                </a:solidFill>
                <a:latin typeface="Roboto Light" pitchFamily="34" charset="0"/>
                <a:ea typeface="Roboto Light" pitchFamily="34" charset="-122"/>
                <a:cs typeface="Roboto Light" pitchFamily="34" charset="-120"/>
              </a:rPr>
              <a:t>The feature importance plot from the Random Forest model shows that age and cholesterol are the most significant predictors of heart disease risk, suggesting they are key physiological risk factors to consider.</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844510"/>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Conclusion</a:t>
            </a:r>
            <a:endParaRPr lang="en-US" sz="4450" dirty="0"/>
          </a:p>
        </p:txBody>
      </p:sp>
      <p:pic>
        <p:nvPicPr>
          <p:cNvPr id="3" name="Image 0" descr="preencoded.png"/>
          <p:cNvPicPr>
            <a:picLocks noChangeAspect="1"/>
          </p:cNvPicPr>
          <p:nvPr/>
        </p:nvPicPr>
        <p:blipFill>
          <a:blip r:embed="rId3"/>
          <a:stretch>
            <a:fillRect/>
          </a:stretch>
        </p:blipFill>
        <p:spPr>
          <a:xfrm>
            <a:off x="2978348" y="2006917"/>
            <a:ext cx="2152055" cy="1306949"/>
          </a:xfrm>
          <a:prstGeom prst="rect">
            <a:avLst/>
          </a:prstGeom>
        </p:spPr>
      </p:pic>
      <p:sp>
        <p:nvSpPr>
          <p:cNvPr id="4" name="Text 1"/>
          <p:cNvSpPr/>
          <p:nvPr/>
        </p:nvSpPr>
        <p:spPr>
          <a:xfrm>
            <a:off x="4013002" y="2595562"/>
            <a:ext cx="82748" cy="453509"/>
          </a:xfrm>
          <a:prstGeom prst="rect">
            <a:avLst/>
          </a:prstGeom>
          <a:noFill/>
          <a:ln/>
        </p:spPr>
        <p:txBody>
          <a:bodyPr wrap="none" lIns="0" tIns="0" rIns="0" bIns="0" rtlCol="0" anchor="t"/>
          <a:lstStyle/>
          <a:p>
            <a:pPr marL="0" indent="0" algn="ctr">
              <a:lnSpc>
                <a:spcPts val="3550"/>
              </a:lnSpc>
              <a:buNone/>
            </a:pPr>
            <a:r>
              <a:rPr lang="en-US" sz="2200" dirty="0">
                <a:solidFill>
                  <a:srgbClr val="E5E0DF"/>
                </a:solidFill>
                <a:latin typeface="Poppins Light" pitchFamily="34" charset="0"/>
                <a:ea typeface="Poppins Light" pitchFamily="34" charset="-122"/>
                <a:cs typeface="Poppins Light" pitchFamily="34" charset="-120"/>
              </a:rPr>
              <a:t>1</a:t>
            </a:r>
            <a:endParaRPr lang="en-US" sz="2200" dirty="0"/>
          </a:p>
        </p:txBody>
      </p:sp>
      <p:sp>
        <p:nvSpPr>
          <p:cNvPr id="5" name="Text 2"/>
          <p:cNvSpPr/>
          <p:nvPr/>
        </p:nvSpPr>
        <p:spPr>
          <a:xfrm>
            <a:off x="5357217" y="223373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Best Model</a:t>
            </a:r>
            <a:endParaRPr lang="en-US" sz="2200" dirty="0"/>
          </a:p>
        </p:txBody>
      </p:sp>
      <p:sp>
        <p:nvSpPr>
          <p:cNvPr id="6" name="Text 3"/>
          <p:cNvSpPr/>
          <p:nvPr/>
        </p:nvSpPr>
        <p:spPr>
          <a:xfrm>
            <a:off x="5357217" y="2724150"/>
            <a:ext cx="3201829"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Random Forest - 100% accuracy</a:t>
            </a:r>
            <a:endParaRPr lang="en-US" sz="1750" dirty="0"/>
          </a:p>
        </p:txBody>
      </p:sp>
      <p:sp>
        <p:nvSpPr>
          <p:cNvPr id="7" name="Shape 4"/>
          <p:cNvSpPr/>
          <p:nvPr/>
        </p:nvSpPr>
        <p:spPr>
          <a:xfrm>
            <a:off x="5187077" y="3326963"/>
            <a:ext cx="8592860" cy="15240"/>
          </a:xfrm>
          <a:prstGeom prst="roundRect">
            <a:avLst>
              <a:gd name="adj" fmla="val 625116"/>
            </a:avLst>
          </a:prstGeom>
          <a:solidFill>
            <a:srgbClr val="56565B"/>
          </a:solidFill>
          <a:ln/>
        </p:spPr>
      </p:sp>
      <p:pic>
        <p:nvPicPr>
          <p:cNvPr id="8" name="Image 1" descr="preencoded.png"/>
          <p:cNvPicPr>
            <a:picLocks noChangeAspect="1"/>
          </p:cNvPicPr>
          <p:nvPr/>
        </p:nvPicPr>
        <p:blipFill>
          <a:blip r:embed="rId4"/>
          <a:stretch>
            <a:fillRect/>
          </a:stretch>
        </p:blipFill>
        <p:spPr>
          <a:xfrm>
            <a:off x="1902381" y="3370540"/>
            <a:ext cx="4304109" cy="1306949"/>
          </a:xfrm>
          <a:prstGeom prst="rect">
            <a:avLst/>
          </a:prstGeom>
        </p:spPr>
      </p:pic>
      <p:sp>
        <p:nvSpPr>
          <p:cNvPr id="9" name="Text 5"/>
          <p:cNvSpPr/>
          <p:nvPr/>
        </p:nvSpPr>
        <p:spPr>
          <a:xfrm>
            <a:off x="3973235" y="3797260"/>
            <a:ext cx="162163" cy="453509"/>
          </a:xfrm>
          <a:prstGeom prst="rect">
            <a:avLst/>
          </a:prstGeom>
          <a:noFill/>
          <a:ln/>
        </p:spPr>
        <p:txBody>
          <a:bodyPr wrap="none" lIns="0" tIns="0" rIns="0" bIns="0" rtlCol="0" anchor="t"/>
          <a:lstStyle/>
          <a:p>
            <a:pPr marL="0" indent="0" algn="ctr">
              <a:lnSpc>
                <a:spcPts val="3550"/>
              </a:lnSpc>
              <a:buNone/>
            </a:pPr>
            <a:r>
              <a:rPr lang="en-US" sz="2200" dirty="0">
                <a:solidFill>
                  <a:srgbClr val="E5E0DF"/>
                </a:solidFill>
                <a:latin typeface="Poppins Light" pitchFamily="34" charset="0"/>
                <a:ea typeface="Poppins Light" pitchFamily="34" charset="-122"/>
                <a:cs typeface="Poppins Light" pitchFamily="34" charset="-120"/>
              </a:rPr>
              <a:t>2</a:t>
            </a:r>
            <a:endParaRPr lang="en-US" sz="2200" dirty="0"/>
          </a:p>
        </p:txBody>
      </p:sp>
      <p:sp>
        <p:nvSpPr>
          <p:cNvPr id="10" name="Text 6"/>
          <p:cNvSpPr/>
          <p:nvPr/>
        </p:nvSpPr>
        <p:spPr>
          <a:xfrm>
            <a:off x="6433304" y="35973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Implications</a:t>
            </a:r>
            <a:endParaRPr lang="en-US" sz="2200" dirty="0"/>
          </a:p>
        </p:txBody>
      </p:sp>
      <p:sp>
        <p:nvSpPr>
          <p:cNvPr id="11" name="Text 7"/>
          <p:cNvSpPr/>
          <p:nvPr/>
        </p:nvSpPr>
        <p:spPr>
          <a:xfrm>
            <a:off x="6433304" y="4087773"/>
            <a:ext cx="3991213"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Early prediction aids proactive treatment</a:t>
            </a:r>
            <a:endParaRPr lang="en-US" sz="1750" dirty="0"/>
          </a:p>
        </p:txBody>
      </p:sp>
      <p:sp>
        <p:nvSpPr>
          <p:cNvPr id="12" name="Shape 8"/>
          <p:cNvSpPr/>
          <p:nvPr/>
        </p:nvSpPr>
        <p:spPr>
          <a:xfrm>
            <a:off x="6263164" y="4690586"/>
            <a:ext cx="7516773" cy="15240"/>
          </a:xfrm>
          <a:prstGeom prst="roundRect">
            <a:avLst>
              <a:gd name="adj" fmla="val 625116"/>
            </a:avLst>
          </a:prstGeom>
          <a:solidFill>
            <a:srgbClr val="56565B"/>
          </a:solidFill>
          <a:ln/>
        </p:spPr>
      </p:sp>
      <p:pic>
        <p:nvPicPr>
          <p:cNvPr id="13" name="Image 2" descr="preencoded.png"/>
          <p:cNvPicPr>
            <a:picLocks noChangeAspect="1"/>
          </p:cNvPicPr>
          <p:nvPr/>
        </p:nvPicPr>
        <p:blipFill>
          <a:blip r:embed="rId5"/>
          <a:stretch>
            <a:fillRect/>
          </a:stretch>
        </p:blipFill>
        <p:spPr>
          <a:xfrm>
            <a:off x="826294" y="4734163"/>
            <a:ext cx="6456164" cy="1306949"/>
          </a:xfrm>
          <a:prstGeom prst="rect">
            <a:avLst/>
          </a:prstGeom>
        </p:spPr>
      </p:pic>
      <p:sp>
        <p:nvSpPr>
          <p:cNvPr id="14" name="Text 9"/>
          <p:cNvSpPr/>
          <p:nvPr/>
        </p:nvSpPr>
        <p:spPr>
          <a:xfrm>
            <a:off x="3971330" y="5160883"/>
            <a:ext cx="165854" cy="453509"/>
          </a:xfrm>
          <a:prstGeom prst="rect">
            <a:avLst/>
          </a:prstGeom>
          <a:noFill/>
          <a:ln/>
        </p:spPr>
        <p:txBody>
          <a:bodyPr wrap="none" lIns="0" tIns="0" rIns="0" bIns="0" rtlCol="0" anchor="t"/>
          <a:lstStyle/>
          <a:p>
            <a:pPr marL="0" indent="0" algn="ctr">
              <a:lnSpc>
                <a:spcPts val="3550"/>
              </a:lnSpc>
              <a:buNone/>
            </a:pPr>
            <a:r>
              <a:rPr lang="en-US" sz="2200" dirty="0">
                <a:solidFill>
                  <a:srgbClr val="E5E0DF"/>
                </a:solidFill>
                <a:latin typeface="Poppins Light" pitchFamily="34" charset="0"/>
                <a:ea typeface="Poppins Light" pitchFamily="34" charset="-122"/>
                <a:cs typeface="Poppins Light" pitchFamily="34" charset="-120"/>
              </a:rPr>
              <a:t>3</a:t>
            </a:r>
            <a:endParaRPr lang="en-US" sz="2200" dirty="0"/>
          </a:p>
        </p:txBody>
      </p:sp>
      <p:sp>
        <p:nvSpPr>
          <p:cNvPr id="15" name="Text 10"/>
          <p:cNvSpPr/>
          <p:nvPr/>
        </p:nvSpPr>
        <p:spPr>
          <a:xfrm>
            <a:off x="7509272" y="49609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Future Work</a:t>
            </a:r>
            <a:endParaRPr lang="en-US" sz="2200" dirty="0"/>
          </a:p>
        </p:txBody>
      </p:sp>
      <p:sp>
        <p:nvSpPr>
          <p:cNvPr id="16" name="Text 11"/>
          <p:cNvSpPr/>
          <p:nvPr/>
        </p:nvSpPr>
        <p:spPr>
          <a:xfrm>
            <a:off x="7509272" y="5451396"/>
            <a:ext cx="3746183"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Expand dataset, explore deep learning</a:t>
            </a:r>
            <a:endParaRPr lang="en-US" sz="1750" dirty="0"/>
          </a:p>
        </p:txBody>
      </p:sp>
      <p:sp>
        <p:nvSpPr>
          <p:cNvPr id="17" name="Text 12"/>
          <p:cNvSpPr/>
          <p:nvPr/>
        </p:nvSpPr>
        <p:spPr>
          <a:xfrm>
            <a:off x="793790" y="6296263"/>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The Random Forest model emerged as the top performer, achieving 100% accuracy, precision, and recall in predicting heart disease risk. This powerful tool can enable early interventions and proactive treatment plans. Moving forward, expanding the dataset and exploring deep learning techniques may further enhance the accuracy of heart disease prediction.</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2230874"/>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2F2F3"/>
                </a:solidFill>
                <a:latin typeface="Poppins Light" pitchFamily="34" charset="0"/>
                <a:ea typeface="Poppins Light" pitchFamily="34" charset="-122"/>
                <a:cs typeface="Poppins Light" pitchFamily="34" charset="-120"/>
              </a:rPr>
              <a:t>Thank You</a:t>
            </a:r>
            <a:endParaRPr lang="en-US" sz="4450" dirty="0"/>
          </a:p>
        </p:txBody>
      </p:sp>
      <p:sp>
        <p:nvSpPr>
          <p:cNvPr id="3" name="Shape 1"/>
          <p:cNvSpPr/>
          <p:nvPr/>
        </p:nvSpPr>
        <p:spPr>
          <a:xfrm>
            <a:off x="793790" y="3648432"/>
            <a:ext cx="396835" cy="396835"/>
          </a:xfrm>
          <a:prstGeom prst="roundRect">
            <a:avLst>
              <a:gd name="adj" fmla="val 24007"/>
            </a:avLst>
          </a:prstGeom>
          <a:solidFill>
            <a:srgbClr val="3D3D42"/>
          </a:solidFill>
          <a:ln w="7620">
            <a:solidFill>
              <a:srgbClr val="56565B"/>
            </a:solidFill>
            <a:prstDash val="solid"/>
          </a:ln>
        </p:spPr>
      </p:sp>
      <p:sp>
        <p:nvSpPr>
          <p:cNvPr id="4" name="Text 2"/>
          <p:cNvSpPr/>
          <p:nvPr/>
        </p:nvSpPr>
        <p:spPr>
          <a:xfrm>
            <a:off x="1417439" y="364843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5E0DF"/>
                </a:solidFill>
                <a:latin typeface="Poppins Light" pitchFamily="34" charset="0"/>
                <a:ea typeface="Poppins Light" pitchFamily="34" charset="-122"/>
                <a:cs typeface="Poppins Light" pitchFamily="34" charset="-120"/>
              </a:rPr>
              <a:t>Group Members</a:t>
            </a:r>
            <a:endParaRPr lang="en-US" sz="2200" dirty="0"/>
          </a:p>
        </p:txBody>
      </p:sp>
      <p:sp>
        <p:nvSpPr>
          <p:cNvPr id="5" name="Text 3"/>
          <p:cNvSpPr/>
          <p:nvPr/>
        </p:nvSpPr>
        <p:spPr>
          <a:xfrm>
            <a:off x="1417439" y="4138851"/>
            <a:ext cx="578441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Yellanuru Madasi Pranay Kumar - 21BCE9685</a:t>
            </a:r>
            <a:endParaRPr lang="en-US" sz="1750" dirty="0"/>
          </a:p>
        </p:txBody>
      </p:sp>
      <p:sp>
        <p:nvSpPr>
          <p:cNvPr id="6" name="Text 4"/>
          <p:cNvSpPr/>
          <p:nvPr/>
        </p:nvSpPr>
        <p:spPr>
          <a:xfrm>
            <a:off x="1417439" y="4637842"/>
            <a:ext cx="578441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Meda Mohan Kalyan - 21BCE9959</a:t>
            </a:r>
            <a:endParaRPr lang="en-US" sz="1750" dirty="0"/>
          </a:p>
        </p:txBody>
      </p:sp>
      <p:sp>
        <p:nvSpPr>
          <p:cNvPr id="7" name="Text 5"/>
          <p:cNvSpPr/>
          <p:nvPr/>
        </p:nvSpPr>
        <p:spPr>
          <a:xfrm>
            <a:off x="1417439" y="5136833"/>
            <a:ext cx="578441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Hanumantu Durga Suresh - 21BCE9402 </a:t>
            </a:r>
            <a:endParaRPr lang="en-US" sz="1750" dirty="0"/>
          </a:p>
        </p:txBody>
      </p:sp>
      <p:sp>
        <p:nvSpPr>
          <p:cNvPr id="8" name="Text 6"/>
          <p:cNvSpPr/>
          <p:nvPr/>
        </p:nvSpPr>
        <p:spPr>
          <a:xfrm>
            <a:off x="1417439" y="5635823"/>
            <a:ext cx="5784413" cy="362903"/>
          </a:xfrm>
          <a:prstGeom prst="rect">
            <a:avLst/>
          </a:prstGeom>
          <a:noFill/>
          <a:ln/>
        </p:spPr>
        <p:txBody>
          <a:bodyPr wrap="non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Gottemukkula Rahul - 21BCE9953</a:t>
            </a:r>
            <a:endParaRPr lang="en-US" sz="1750" dirty="0"/>
          </a:p>
        </p:txBody>
      </p:sp>
      <p:sp>
        <p:nvSpPr>
          <p:cNvPr id="9" name="Shape 7"/>
          <p:cNvSpPr/>
          <p:nvPr/>
        </p:nvSpPr>
        <p:spPr>
          <a:xfrm>
            <a:off x="7428667" y="3648432"/>
            <a:ext cx="396835" cy="396835"/>
          </a:xfrm>
          <a:prstGeom prst="roundRect">
            <a:avLst>
              <a:gd name="adj" fmla="val 24007"/>
            </a:avLst>
          </a:prstGeom>
          <a:solidFill>
            <a:srgbClr val="3D3D42"/>
          </a:solidFill>
          <a:ln w="7620">
            <a:solidFill>
              <a:srgbClr val="56565B"/>
            </a:solidFill>
            <a:prstDash val="solid"/>
          </a:ln>
        </p:spPr>
      </p:sp>
      <p:sp>
        <p:nvSpPr>
          <p:cNvPr id="10" name="Text 8"/>
          <p:cNvSpPr/>
          <p:nvPr/>
        </p:nvSpPr>
        <p:spPr>
          <a:xfrm>
            <a:off x="8052316" y="364843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5E0DF"/>
                </a:solidFill>
                <a:latin typeface="Poppins Light" pitchFamily="34" charset="0"/>
                <a:ea typeface="Poppins Light" pitchFamily="34" charset="-122"/>
                <a:cs typeface="Poppins Light" pitchFamily="34" charset="-120"/>
              </a:rPr>
              <a:t>Instructor</a:t>
            </a:r>
            <a:endParaRPr lang="en-US" sz="2200" dirty="0"/>
          </a:p>
        </p:txBody>
      </p:sp>
      <p:sp>
        <p:nvSpPr>
          <p:cNvPr id="11" name="Text 9"/>
          <p:cNvSpPr/>
          <p:nvPr/>
        </p:nvSpPr>
        <p:spPr>
          <a:xfrm>
            <a:off x="8052316" y="4138851"/>
            <a:ext cx="5784413" cy="725805"/>
          </a:xfrm>
          <a:prstGeom prst="rect">
            <a:avLst/>
          </a:prstGeom>
          <a:noFill/>
          <a:ln/>
        </p:spPr>
        <p:txBody>
          <a:bodyPr wrap="square" lIns="0" tIns="0" rIns="0" bIns="0" rtlCol="0" anchor="t"/>
          <a:lstStyle/>
          <a:p>
            <a:pPr marL="0" indent="0">
              <a:lnSpc>
                <a:spcPts val="2850"/>
              </a:lnSpc>
              <a:buNone/>
            </a:pPr>
            <a:r>
              <a:rPr lang="en-US" sz="1750" dirty="0">
                <a:solidFill>
                  <a:srgbClr val="E5E0DF"/>
                </a:solidFill>
                <a:latin typeface="Roboto Light" pitchFamily="34" charset="0"/>
                <a:ea typeface="Roboto Light" pitchFamily="34" charset="-122"/>
                <a:cs typeface="Roboto Light" pitchFamily="34" charset="-120"/>
              </a:rPr>
              <a:t>Professor Helen Sharmila A, Department of Artificial Intelligence and Machine Learning</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TotalTime>
  <Words>1726</Words>
  <Application>Microsoft Office PowerPoint</Application>
  <PresentationFormat>Custom</PresentationFormat>
  <Paragraphs>187</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Calibri Light</vt:lpstr>
      <vt:lpstr>Poppins Light</vt:lpstr>
      <vt:lpstr>Arial</vt:lpstr>
      <vt:lpstr>Calibri</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Pranai</dc:creator>
  <cp:lastModifiedBy>RAHUL GOTTEMUKKULA</cp:lastModifiedBy>
  <cp:revision>2</cp:revision>
  <dcterms:created xsi:type="dcterms:W3CDTF">2024-11-25T06:17:31Z</dcterms:created>
  <dcterms:modified xsi:type="dcterms:W3CDTF">2024-11-25T06:29:19Z</dcterms:modified>
</cp:coreProperties>
</file>